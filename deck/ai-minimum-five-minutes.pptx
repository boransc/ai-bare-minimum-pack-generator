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charity can find out in ten minutes whether it meets the basic standard for using AI safely, and walk away with the paperwork to fix what is missing.
The content is not mine. It is The AI Bare Minimum Pack, from Governance AI. It was a Word document. Now it is a website that adapts itself to whoever is filling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result from testing the live site.
Six out of eight. Seventy-five per cent.
The product says the minimum is not met.
Two of those eight points are not like the other six. One is whether you have written down what staff must never type into an AI tool. The other is whether a human checks AI work before it reaches a client. Fail either one and the total stops mattering. You do not meet the minimum, and the page says so above the score.
That is why this is a product and not a quiz. A quiz would have told that organisation it got seventy-five per cent and left it feeling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Eight questions. The check. The pack. Verdict first, score second. Their sector and size change the wording, never the rules. The policy has blanks they fill in here and we save them, and it downloads as a Word file, because a locked PDF of a policy template is no use to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hardest question was whether to let the AI write the policy.
Three options.
Let it write the whole pack. Fast, and unusable. It invents obligations. It will tell a housing association it has thirty days to file a report that does not exist.
Let it write nothing. Safe, and every organisation gets an identical document, which they can already get free.
What I did instead is fix the Pack's words and let the AI write only in the margins. A paragraph describing their situation back to them. One realistic thing that could go wrong. One sentence for each point they failed.
The part I would defend hardest is this. It cannot state a rule, because there is nowhere to put one. And everything it writes is checked before it reaches the page, against a list of things it must never mention. Laws. Regulators. Deadlines. Numbers. If a passage fails, the original text shows instead, and the reader never sees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works. The whole loop is live, and I have watched every step run on the deployed site, not just on my laptop.
What does not. Nobody has confirmed that my transcription of it is faithful. I typed that document into code carefully, and carefully is not signed off. Until someone does that, this is a working prototype.
What next. Let an organisation take the check again in six months. That is how a board watches four out of eight become seven, and it is the only real reason anyone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5F0"/>
        </a:solidFill>
      </p:bgPr>
    </p:bg>
    <p:spTree>
      <p:nvGrpSpPr>
        <p:cNvPr id="1" name=""/>
        <p:cNvGrpSpPr/>
        <p:nvPr/>
      </p:nvGrpSpPr>
      <p:grpSpPr>
        <a:xfrm>
          <a:off x="0" y="0"/>
          <a:ext cx="0" cy="0"/>
          <a:chOff x="0" y="0"/>
          <a:chExt cx="0" cy="0"/>
        </a:xfrm>
      </p:grpSpPr>
      <p:sp>
        <p:nvSpPr>
          <p:cNvPr id="2" name="Shape 0"/>
          <p:cNvSpPr/>
          <p:nvPr/>
        </p:nvSpPr>
        <p:spPr>
          <a:xfrm>
            <a:off x="914400" y="566928"/>
            <a:ext cx="310896" cy="310896"/>
          </a:xfrm>
          <a:prstGeom prst="ellipse">
            <a:avLst/>
          </a:prstGeom>
          <a:solidFill>
            <a:srgbClr val="1E5146"/>
          </a:solidFill>
          <a:ln/>
        </p:spPr>
      </p:sp>
      <p:sp>
        <p:nvSpPr>
          <p:cNvPr id="3" name="Text 1"/>
          <p:cNvSpPr txBox="1"/>
          <p:nvPr/>
        </p:nvSpPr>
        <p:spPr>
          <a:xfrm>
            <a:off x="914400" y="566928"/>
            <a:ext cx="310896" cy="310896"/>
          </a:xfrm>
          <a:prstGeom prst="rect">
            <a:avLst/>
          </a:prstGeom>
          <a:noFill/>
          <a:ln/>
        </p:spPr>
        <p:txBody>
          <a:bodyPr wrap="square" lIns="0" tIns="0" rIns="0" bIns="0" rtlCol="0" anchor="ctr"/>
          <a:lstStyle/>
          <a:p>
            <a:pPr algn="ctr" indent="0" marL="0">
              <a:buNone/>
            </a:pPr>
            <a:r>
              <a:rPr lang="en-US" sz="1500" b="1" dirty="0">
                <a:solidFill>
                  <a:srgbClr val="FFFEFA"/>
                </a:solidFill>
                <a:latin typeface="Cambria" pitchFamily="34" charset="0"/>
                <a:ea typeface="Cambria" pitchFamily="34" charset="-122"/>
                <a:cs typeface="Cambria" pitchFamily="34" charset="-120"/>
              </a:rPr>
              <a:t>G</a:t>
            </a:r>
            <a:endParaRPr lang="en-US" sz="1500" dirty="0"/>
          </a:p>
        </p:txBody>
      </p:sp>
      <p:sp>
        <p:nvSpPr>
          <p:cNvPr id="4" name="Text 2"/>
          <p:cNvSpPr txBox="1"/>
          <p:nvPr/>
        </p:nvSpPr>
        <p:spPr>
          <a:xfrm>
            <a:off x="1353312" y="585216"/>
            <a:ext cx="3657600" cy="274320"/>
          </a:xfrm>
          <a:prstGeom prst="rect">
            <a:avLst/>
          </a:prstGeom>
          <a:noFill/>
          <a:ln/>
        </p:spPr>
        <p:txBody>
          <a:bodyPr wrap="square" lIns="0" tIns="0" rIns="0" bIns="0" rtlCol="0" anchor="ctr"/>
          <a:lstStyle/>
          <a:p>
            <a:pPr algn="l" indent="0" marL="0">
              <a:buNone/>
            </a:pPr>
            <a:r>
              <a:rPr lang="en-US" sz="1000" spc="160" kern="0" dirty="0">
                <a:solidFill>
                  <a:srgbClr val="61706B"/>
                </a:solidFill>
                <a:latin typeface="Consolas" pitchFamily="34" charset="0"/>
                <a:ea typeface="Consolas" pitchFamily="34" charset="-122"/>
                <a:cs typeface="Consolas" pitchFamily="34" charset="-120"/>
              </a:rPr>
              <a:t>GOVERNANCE AI</a:t>
            </a:r>
            <a:endParaRPr lang="en-US" sz="1000" dirty="0"/>
          </a:p>
        </p:txBody>
      </p:sp>
      <p:sp>
        <p:nvSpPr>
          <p:cNvPr id="5" name="Text 3"/>
          <p:cNvSpPr txBox="1"/>
          <p:nvPr/>
        </p:nvSpPr>
        <p:spPr>
          <a:xfrm>
            <a:off x="914400" y="1737360"/>
            <a:ext cx="9814255" cy="3017520"/>
          </a:xfrm>
          <a:prstGeom prst="rect">
            <a:avLst/>
          </a:prstGeom>
          <a:noFill/>
          <a:ln/>
        </p:spPr>
        <p:txBody>
          <a:bodyPr wrap="square" lIns="0" tIns="0" rIns="0" bIns="0" rtlCol="0" anchor="t"/>
          <a:lstStyle/>
          <a:p>
            <a:pPr indent="0" marL="0">
              <a:lnSpc>
                <a:spcPct val="106000"/>
              </a:lnSpc>
              <a:buNone/>
            </a:pPr>
            <a:r>
              <a:rPr lang="en-US" sz="4000" dirty="0">
                <a:solidFill>
                  <a:srgbClr val="172724"/>
                </a:solidFill>
                <a:latin typeface="Cambria" pitchFamily="34" charset="0"/>
                <a:ea typeface="Cambria" pitchFamily="34" charset="-122"/>
                <a:cs typeface="Cambria" pitchFamily="34" charset="-120"/>
              </a:rPr>
              <a:t>A small charity can find out in ten minutes whether it meets the AI minimum — and leave with the paperwork to fix it.</a:t>
            </a:r>
            <a:endParaRPr lang="en-US" sz="4000" dirty="0"/>
          </a:p>
        </p:txBody>
      </p:sp>
      <p:sp>
        <p:nvSpPr>
          <p:cNvPr id="6" name="Text 4"/>
          <p:cNvSpPr txBox="1"/>
          <p:nvPr/>
        </p:nvSpPr>
        <p:spPr>
          <a:xfrm>
            <a:off x="914400" y="5029200"/>
            <a:ext cx="6400800" cy="365760"/>
          </a:xfrm>
          <a:prstGeom prst="rect">
            <a:avLst/>
          </a:prstGeom>
          <a:noFill/>
          <a:ln/>
        </p:spPr>
        <p:txBody>
          <a:bodyPr wrap="square" lIns="0" tIns="0" rIns="0" bIns="0" rtlCol="0" anchor="ctr"/>
          <a:lstStyle/>
          <a:p>
            <a:pPr indent="0" marL="0">
              <a:buNone/>
            </a:pPr>
            <a:r>
              <a:rPr lang="en-US" sz="1600" dirty="0">
                <a:solidFill>
                  <a:srgbClr val="43534E"/>
                </a:solidFill>
                <a:latin typeface="Calibri" pitchFamily="34" charset="0"/>
                <a:ea typeface="Calibri" pitchFamily="34" charset="-122"/>
                <a:cs typeface="Calibri" pitchFamily="34" charset="-120"/>
              </a:rPr>
              <a:t>Built on The AI Bare Minimum Pack.</a:t>
            </a:r>
            <a:endParaRPr lang="en-US" sz="1600" dirty="0"/>
          </a:p>
        </p:txBody>
      </p:sp>
      <p:sp>
        <p:nvSpPr>
          <p:cNvPr id="7" name="Text 5"/>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01 / 05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txBox="1"/>
          <p:nvPr/>
        </p:nvSpPr>
        <p:spPr>
          <a:xfrm>
            <a:off x="914400" y="685800"/>
            <a:ext cx="7315200" cy="411480"/>
          </a:xfrm>
          <a:prstGeom prst="rect">
            <a:avLst/>
          </a:prstGeom>
          <a:noFill/>
          <a:ln/>
        </p:spPr>
        <p:txBody>
          <a:bodyPr wrap="square" lIns="0" tIns="0" rIns="0" bIns="0" rtlCol="0" anchor="ctr"/>
          <a:lstStyle/>
          <a:p>
            <a:pPr indent="0" marL="0">
              <a:buNone/>
            </a:pPr>
            <a:r>
              <a:rPr lang="en-US" sz="1700" dirty="0">
                <a:solidFill>
                  <a:srgbClr val="43534E"/>
                </a:solidFill>
                <a:latin typeface="Calibri" pitchFamily="34" charset="0"/>
                <a:ea typeface="Calibri" pitchFamily="34" charset="-122"/>
                <a:cs typeface="Calibri" pitchFamily="34" charset="-120"/>
              </a:rPr>
              <a:t>A real result from testing the live site.</a:t>
            </a:r>
            <a:endParaRPr lang="en-US" sz="1700" dirty="0"/>
          </a:p>
        </p:txBody>
      </p:sp>
      <p:sp>
        <p:nvSpPr>
          <p:cNvPr id="3" name="Text 1"/>
          <p:cNvSpPr txBox="1"/>
          <p:nvPr/>
        </p:nvSpPr>
        <p:spPr>
          <a:xfrm>
            <a:off x="914400" y="1417320"/>
            <a:ext cx="4663440" cy="2834640"/>
          </a:xfrm>
          <a:prstGeom prst="rect">
            <a:avLst/>
          </a:prstGeom>
          <a:noFill/>
          <a:ln/>
        </p:spPr>
        <p:txBody>
          <a:bodyPr wrap="square" lIns="0" tIns="0" rIns="0" bIns="0" rtlCol="0" anchor="ctr"/>
          <a:lstStyle/>
          <a:p>
            <a:pPr algn="l" indent="0" marL="0">
              <a:buNone/>
            </a:pPr>
            <a:r>
              <a:rPr lang="en-US" sz="13200" dirty="0">
                <a:solidFill>
                  <a:srgbClr val="172724"/>
                </a:solidFill>
                <a:latin typeface="Cambria" pitchFamily="34" charset="0"/>
                <a:ea typeface="Cambria" pitchFamily="34" charset="-122"/>
                <a:cs typeface="Cambria" pitchFamily="34" charset="-120"/>
              </a:rPr>
              <a:t>6</a:t>
            </a:r>
            <a:pPr algn="l" indent="0" marL="0">
              <a:buNone/>
            </a:pPr>
            <a:r>
              <a:rPr lang="en-US" sz="13200" dirty="0">
                <a:solidFill>
                  <a:srgbClr val="61706B"/>
                </a:solidFill>
                <a:latin typeface="Cambria" pitchFamily="34" charset="0"/>
                <a:ea typeface="Cambria" pitchFamily="34" charset="-122"/>
                <a:cs typeface="Cambria" pitchFamily="34" charset="-120"/>
              </a:rPr>
              <a:t>/8</a:t>
            </a:r>
            <a:endParaRPr lang="en-US" sz="13200" dirty="0"/>
          </a:p>
        </p:txBody>
      </p:sp>
      <p:sp>
        <p:nvSpPr>
          <p:cNvPr id="4" name="Text 2"/>
          <p:cNvSpPr txBox="1"/>
          <p:nvPr/>
        </p:nvSpPr>
        <p:spPr>
          <a:xfrm>
            <a:off x="914400" y="4389120"/>
            <a:ext cx="4572000" cy="27432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POINTS EVIDENCED</a:t>
            </a:r>
            <a:endParaRPr lang="en-US" sz="1000" dirty="0"/>
          </a:p>
        </p:txBody>
      </p:sp>
      <p:sp>
        <p:nvSpPr>
          <p:cNvPr id="5" name="Text 3"/>
          <p:cNvSpPr txBox="1"/>
          <p:nvPr/>
        </p:nvSpPr>
        <p:spPr>
          <a:xfrm>
            <a:off x="5943600" y="1554480"/>
            <a:ext cx="5330952" cy="1737360"/>
          </a:xfrm>
          <a:prstGeom prst="rect">
            <a:avLst/>
          </a:prstGeom>
          <a:noFill/>
          <a:ln/>
        </p:spPr>
        <p:txBody>
          <a:bodyPr wrap="square" lIns="0" tIns="0" rIns="0" bIns="0" rtlCol="0" anchor="t"/>
          <a:lstStyle/>
          <a:p>
            <a:pPr indent="0" marL="0">
              <a:lnSpc>
                <a:spcPct val="106000"/>
              </a:lnSpc>
              <a:buNone/>
            </a:pPr>
            <a:r>
              <a:rPr lang="en-US" sz="4200" dirty="0">
                <a:solidFill>
                  <a:srgbClr val="8C2A2A"/>
                </a:solidFill>
                <a:latin typeface="Cambria" pitchFamily="34" charset="0"/>
                <a:ea typeface="Cambria" pitchFamily="34" charset="-122"/>
                <a:cs typeface="Cambria" pitchFamily="34" charset="-120"/>
              </a:rPr>
              <a:t>The minimum</a:t>
            </a:r>
            <a:endParaRPr lang="en-US" sz="4200" dirty="0"/>
          </a:p>
          <a:p>
            <a:pPr indent="0" marL="0">
              <a:lnSpc>
                <a:spcPct val="106000"/>
              </a:lnSpc>
              <a:buNone/>
            </a:pPr>
            <a:r>
              <a:rPr lang="en-US" sz="4200" dirty="0">
                <a:solidFill>
                  <a:srgbClr val="8C2A2A"/>
                </a:solidFill>
                <a:latin typeface="Cambria" pitchFamily="34" charset="0"/>
                <a:ea typeface="Cambria" pitchFamily="34" charset="-122"/>
                <a:cs typeface="Cambria" pitchFamily="34" charset="-120"/>
              </a:rPr>
              <a:t>is not met.</a:t>
            </a:r>
            <a:endParaRPr lang="en-US" sz="4200" dirty="0"/>
          </a:p>
        </p:txBody>
      </p:sp>
      <p:sp>
        <p:nvSpPr>
          <p:cNvPr id="6" name="Text 4"/>
          <p:cNvSpPr txBox="1"/>
          <p:nvPr/>
        </p:nvSpPr>
        <p:spPr>
          <a:xfrm>
            <a:off x="5943600" y="3520440"/>
            <a:ext cx="5120640" cy="1371600"/>
          </a:xfrm>
          <a:prstGeom prst="rect">
            <a:avLst/>
          </a:prstGeom>
          <a:noFill/>
          <a:ln/>
        </p:spPr>
        <p:txBody>
          <a:bodyPr wrap="square" lIns="0" tIns="0" rIns="0" bIns="0" rtlCol="0" anchor="t"/>
          <a:lstStyle/>
          <a:p>
            <a:pPr indent="0" marL="0">
              <a:lnSpc>
                <a:spcPct val="140000"/>
              </a:lnSpc>
              <a:buNone/>
            </a:pPr>
            <a:r>
              <a:rPr lang="en-US" sz="1700" dirty="0">
                <a:solidFill>
                  <a:srgbClr val="43534E"/>
                </a:solidFill>
                <a:latin typeface="Calibri" pitchFamily="34" charset="0"/>
                <a:ea typeface="Calibri" pitchFamily="34" charset="-122"/>
                <a:cs typeface="Calibri" pitchFamily="34" charset="-120"/>
              </a:rPr>
              <a:t>Two of the eight points are red lines. Fail either one and the total stops mattering.</a:t>
            </a:r>
            <a:endParaRPr lang="en-US" sz="1700" dirty="0"/>
          </a:p>
        </p:txBody>
      </p:sp>
      <p:sp>
        <p:nvSpPr>
          <p:cNvPr id="7" name="Text 5"/>
          <p:cNvSpPr txBox="1"/>
          <p:nvPr/>
        </p:nvSpPr>
        <p:spPr>
          <a:xfrm>
            <a:off x="914400" y="5440680"/>
            <a:ext cx="8138160" cy="502920"/>
          </a:xfrm>
          <a:prstGeom prst="rect">
            <a:avLst/>
          </a:prstGeom>
          <a:noFill/>
          <a:ln/>
        </p:spPr>
        <p:txBody>
          <a:bodyPr wrap="square" lIns="0" tIns="0" rIns="0" bIns="0" rtlCol="0" anchor="ctr"/>
          <a:lstStyle/>
          <a:p>
            <a:pPr indent="0" marL="0">
              <a:buNone/>
            </a:pPr>
            <a:r>
              <a:rPr lang="en-US" sz="2100" i="1" dirty="0">
                <a:solidFill>
                  <a:srgbClr val="172724"/>
                </a:solidFill>
                <a:latin typeface="Cambria" pitchFamily="34" charset="0"/>
                <a:ea typeface="Cambria" pitchFamily="34" charset="-122"/>
                <a:cs typeface="Cambria" pitchFamily="34" charset="-120"/>
              </a:rPr>
              <a:t>A score that flatters you is worse than no score at all.</a:t>
            </a:r>
            <a:endParaRPr lang="en-US" sz="2100" dirty="0"/>
          </a:p>
        </p:txBody>
      </p:sp>
      <p:sp>
        <p:nvSpPr>
          <p:cNvPr id="8" name="Text 6"/>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02 / 05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5146"/>
        </a:solidFill>
      </p:bgPr>
    </p:bg>
    <p:spTree>
      <p:nvGrpSpPr>
        <p:cNvPr id="1" name=""/>
        <p:cNvGrpSpPr/>
        <p:nvPr/>
      </p:nvGrpSpPr>
      <p:grpSpPr>
        <a:xfrm>
          <a:off x="0" y="0"/>
          <a:ext cx="0" cy="0"/>
          <a:chOff x="0" y="0"/>
          <a:chExt cx="0" cy="0"/>
        </a:xfrm>
      </p:grpSpPr>
      <p:sp>
        <p:nvSpPr>
          <p:cNvPr id="2" name="Text 0"/>
          <p:cNvSpPr txBox="1"/>
          <p:nvPr/>
        </p:nvSpPr>
        <p:spPr>
          <a:xfrm>
            <a:off x="914400" y="685800"/>
            <a:ext cx="4572000" cy="274320"/>
          </a:xfrm>
          <a:prstGeom prst="rect">
            <a:avLst/>
          </a:prstGeom>
          <a:noFill/>
          <a:ln/>
        </p:spPr>
        <p:txBody>
          <a:bodyPr wrap="square" lIns="0" tIns="0" rIns="0" bIns="0" rtlCol="0" anchor="ctr"/>
          <a:lstStyle/>
          <a:p>
            <a:pPr algn="l" indent="0" marL="0">
              <a:buNone/>
            </a:pPr>
            <a:r>
              <a:rPr lang="en-US" sz="1000" spc="160" kern="0" dirty="0">
                <a:solidFill>
                  <a:srgbClr val="A8C7BC"/>
                </a:solidFill>
                <a:latin typeface="Consolas" pitchFamily="34" charset="0"/>
                <a:ea typeface="Consolas" pitchFamily="34" charset="-122"/>
                <a:cs typeface="Consolas" pitchFamily="34" charset="-120"/>
              </a:rPr>
              <a:t>NINETY SECONDS</a:t>
            </a:r>
            <a:endParaRPr lang="en-US" sz="1000" dirty="0"/>
          </a:p>
        </p:txBody>
      </p:sp>
      <p:sp>
        <p:nvSpPr>
          <p:cNvPr id="3" name="Text 1"/>
          <p:cNvSpPr txBox="1"/>
          <p:nvPr/>
        </p:nvSpPr>
        <p:spPr>
          <a:xfrm>
            <a:off x="914400" y="2103120"/>
            <a:ext cx="7315200" cy="1737360"/>
          </a:xfrm>
          <a:prstGeom prst="rect">
            <a:avLst/>
          </a:prstGeom>
          <a:noFill/>
          <a:ln/>
        </p:spPr>
        <p:txBody>
          <a:bodyPr wrap="square" lIns="0" tIns="0" rIns="0" bIns="0" rtlCol="0" anchor="ctr"/>
          <a:lstStyle/>
          <a:p>
            <a:pPr indent="0" marL="0">
              <a:buNone/>
            </a:pPr>
            <a:r>
              <a:rPr lang="en-US" sz="9600" dirty="0">
                <a:solidFill>
                  <a:srgbClr val="FFFEFA"/>
                </a:solidFill>
                <a:latin typeface="Cambria" pitchFamily="34" charset="0"/>
                <a:ea typeface="Cambria" pitchFamily="34" charset="-122"/>
                <a:cs typeface="Cambria" pitchFamily="34" charset="-120"/>
              </a:rPr>
              <a:t>Live.</a:t>
            </a:r>
            <a:endParaRPr lang="en-US" sz="9600" dirty="0"/>
          </a:p>
        </p:txBody>
      </p:sp>
      <p:sp>
        <p:nvSpPr>
          <p:cNvPr id="4" name="Text 2"/>
          <p:cNvSpPr txBox="1"/>
          <p:nvPr/>
        </p:nvSpPr>
        <p:spPr>
          <a:xfrm>
            <a:off x="914400" y="4023360"/>
            <a:ext cx="7315200" cy="457200"/>
          </a:xfrm>
          <a:prstGeom prst="rect">
            <a:avLst/>
          </a:prstGeom>
          <a:noFill/>
          <a:ln/>
        </p:spPr>
        <p:txBody>
          <a:bodyPr wrap="square" lIns="0" tIns="0" rIns="0" bIns="0" rtlCol="0" anchor="ctr"/>
          <a:lstStyle/>
          <a:p>
            <a:pPr indent="0" marL="0">
              <a:buNone/>
            </a:pPr>
            <a:r>
              <a:rPr lang="en-US" sz="1800" dirty="0">
                <a:solidFill>
                  <a:srgbClr val="DFECE6"/>
                </a:solidFill>
                <a:latin typeface="Calibri" pitchFamily="34" charset="0"/>
                <a:ea typeface="Calibri" pitchFamily="34" charset="-122"/>
                <a:cs typeface="Calibri" pitchFamily="34" charset="-120"/>
              </a:rPr>
              <a:t>Eight questions, then the pack.</a:t>
            </a:r>
            <a:endParaRPr lang="en-US" sz="1800" dirty="0"/>
          </a:p>
        </p:txBody>
      </p:sp>
      <p:sp>
        <p:nvSpPr>
          <p:cNvPr id="5" name="Text 3"/>
          <p:cNvSpPr txBox="1"/>
          <p:nvPr/>
        </p:nvSpPr>
        <p:spPr>
          <a:xfrm>
            <a:off x="914400" y="6035040"/>
            <a:ext cx="7315200" cy="365760"/>
          </a:xfrm>
          <a:prstGeom prst="rect">
            <a:avLst/>
          </a:prstGeom>
          <a:noFill/>
          <a:ln/>
        </p:spPr>
        <p:txBody>
          <a:bodyPr wrap="square" lIns="0" tIns="0" rIns="0" bIns="0" rtlCol="0" anchor="ctr"/>
          <a:lstStyle/>
          <a:p>
            <a:pPr indent="0" marL="0">
              <a:buNone/>
            </a:pPr>
            <a:r>
              <a:rPr lang="en-US" sz="1200" dirty="0">
                <a:solidFill>
                  <a:srgbClr val="A8C7BC"/>
                </a:solidFill>
                <a:latin typeface="Consolas" pitchFamily="34" charset="0"/>
                <a:ea typeface="Consolas" pitchFamily="34" charset="-122"/>
                <a:cs typeface="Consolas" pitchFamily="34" charset="-120"/>
              </a:rPr>
              <a:t>ai-bare-minimum-pack-generator.vercel.app</a:t>
            </a:r>
            <a:endParaRPr lang="en-US" sz="1200" dirty="0"/>
          </a:p>
        </p:txBody>
      </p:sp>
      <p:sp>
        <p:nvSpPr>
          <p:cNvPr id="6" name="Text 4"/>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A8C7BC"/>
                </a:solidFill>
                <a:latin typeface="Consolas" pitchFamily="34" charset="0"/>
                <a:ea typeface="Consolas" pitchFamily="34" charset="-122"/>
                <a:cs typeface="Consolas" pitchFamily="34" charset="-120"/>
              </a:rPr>
              <a:t>03 / 05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txBox="1"/>
          <p:nvPr/>
        </p:nvSpPr>
        <p:spPr>
          <a:xfrm>
            <a:off x="914400" y="640080"/>
            <a:ext cx="8595360" cy="1371600"/>
          </a:xfrm>
          <a:prstGeom prst="rect">
            <a:avLst/>
          </a:prstGeom>
          <a:noFill/>
          <a:ln/>
        </p:spPr>
        <p:txBody>
          <a:bodyPr wrap="square" lIns="0" tIns="0" rIns="0" bIns="0" rtlCol="0" anchor="t"/>
          <a:lstStyle/>
          <a:p>
            <a:pPr indent="0" marL="0">
              <a:lnSpc>
                <a:spcPct val="102000"/>
              </a:lnSpc>
              <a:buNone/>
            </a:pPr>
            <a:r>
              <a:rPr lang="en-US" sz="4400" dirty="0">
                <a:solidFill>
                  <a:srgbClr val="172724"/>
                </a:solidFill>
                <a:latin typeface="Cambria" pitchFamily="34" charset="0"/>
                <a:ea typeface="Cambria" pitchFamily="34" charset="-122"/>
                <a:cs typeface="Cambria" pitchFamily="34" charset="-120"/>
              </a:rPr>
              <a:t>May the model write the policy?</a:t>
            </a:r>
            <a:endParaRPr lang="en-US" sz="4400" dirty="0"/>
          </a:p>
        </p:txBody>
      </p:sp>
      <p:sp>
        <p:nvSpPr>
          <p:cNvPr id="3" name="Text 1"/>
          <p:cNvSpPr txBox="1"/>
          <p:nvPr/>
        </p:nvSpPr>
        <p:spPr>
          <a:xfrm>
            <a:off x="914400" y="2514600"/>
            <a:ext cx="3246120" cy="566928"/>
          </a:xfrm>
          <a:prstGeom prst="rect">
            <a:avLst/>
          </a:prstGeom>
          <a:noFill/>
          <a:ln/>
        </p:spPr>
        <p:txBody>
          <a:bodyPr wrap="square" lIns="0" tIns="0" rIns="0" bIns="0" rtlCol="0" anchor="t"/>
          <a:lstStyle/>
          <a:p>
            <a:pPr indent="0" marL="0">
              <a:lnSpc>
                <a:spcPct val="110000"/>
              </a:lnSpc>
              <a:buNone/>
            </a:pPr>
            <a:r>
              <a:rPr lang="en-US" sz="2500" dirty="0">
                <a:solidFill>
                  <a:srgbClr val="61706B"/>
                </a:solidFill>
                <a:latin typeface="Cambria" pitchFamily="34" charset="0"/>
                <a:ea typeface="Cambria" pitchFamily="34" charset="-122"/>
                <a:cs typeface="Cambria" pitchFamily="34" charset="-120"/>
              </a:rPr>
              <a:t>It writes the pack.</a:t>
            </a:r>
            <a:endParaRPr lang="en-US" sz="2500" dirty="0"/>
          </a:p>
        </p:txBody>
      </p:sp>
      <p:sp>
        <p:nvSpPr>
          <p:cNvPr id="4" name="Text 2"/>
          <p:cNvSpPr txBox="1"/>
          <p:nvPr/>
        </p:nvSpPr>
        <p:spPr>
          <a:xfrm>
            <a:off x="914400" y="3191256"/>
            <a:ext cx="3246120" cy="914400"/>
          </a:xfrm>
          <a:prstGeom prst="rect">
            <a:avLst/>
          </a:prstGeom>
          <a:noFill/>
          <a:ln/>
        </p:spPr>
        <p:txBody>
          <a:bodyPr wrap="square" lIns="0" tIns="0" rIns="0" bIns="0" rtlCol="0" anchor="t"/>
          <a:lstStyle/>
          <a:p>
            <a:pPr indent="0" marL="0">
              <a:lnSpc>
                <a:spcPct val="132000"/>
              </a:lnSpc>
              <a:buNone/>
            </a:pPr>
            <a:r>
              <a:rPr lang="en-US" sz="1500" dirty="0">
                <a:solidFill>
                  <a:srgbClr val="61706B"/>
                </a:solidFill>
                <a:latin typeface="Calibri" pitchFamily="34" charset="0"/>
                <a:ea typeface="Calibri" pitchFamily="34" charset="-122"/>
                <a:cs typeface="Calibri" pitchFamily="34" charset="-120"/>
              </a:rPr>
              <a:t>Then it invents obligations that nobody wrote.</a:t>
            </a:r>
            <a:endParaRPr lang="en-US" sz="1500" dirty="0"/>
          </a:p>
        </p:txBody>
      </p:sp>
      <p:sp>
        <p:nvSpPr>
          <p:cNvPr id="5" name="Text 3"/>
          <p:cNvSpPr txBox="1"/>
          <p:nvPr/>
        </p:nvSpPr>
        <p:spPr>
          <a:xfrm>
            <a:off x="4471416" y="2514600"/>
            <a:ext cx="3246120" cy="566928"/>
          </a:xfrm>
          <a:prstGeom prst="rect">
            <a:avLst/>
          </a:prstGeom>
          <a:noFill/>
          <a:ln/>
        </p:spPr>
        <p:txBody>
          <a:bodyPr wrap="square" lIns="0" tIns="0" rIns="0" bIns="0" rtlCol="0" anchor="t"/>
          <a:lstStyle/>
          <a:p>
            <a:pPr indent="0" marL="0">
              <a:lnSpc>
                <a:spcPct val="110000"/>
              </a:lnSpc>
              <a:buNone/>
            </a:pPr>
            <a:r>
              <a:rPr lang="en-US" sz="2500" dirty="0">
                <a:solidFill>
                  <a:srgbClr val="61706B"/>
                </a:solidFill>
                <a:latin typeface="Cambria" pitchFamily="34" charset="0"/>
                <a:ea typeface="Cambria" pitchFamily="34" charset="-122"/>
                <a:cs typeface="Cambria" pitchFamily="34" charset="-120"/>
              </a:rPr>
              <a:t>It writes nothing.</a:t>
            </a:r>
            <a:endParaRPr lang="en-US" sz="2500" dirty="0"/>
          </a:p>
        </p:txBody>
      </p:sp>
      <p:sp>
        <p:nvSpPr>
          <p:cNvPr id="6" name="Text 4"/>
          <p:cNvSpPr txBox="1"/>
          <p:nvPr/>
        </p:nvSpPr>
        <p:spPr>
          <a:xfrm>
            <a:off x="4471416" y="3191256"/>
            <a:ext cx="3246120" cy="914400"/>
          </a:xfrm>
          <a:prstGeom prst="rect">
            <a:avLst/>
          </a:prstGeom>
          <a:noFill/>
          <a:ln/>
        </p:spPr>
        <p:txBody>
          <a:bodyPr wrap="square" lIns="0" tIns="0" rIns="0" bIns="0" rtlCol="0" anchor="t"/>
          <a:lstStyle/>
          <a:p>
            <a:pPr indent="0" marL="0">
              <a:lnSpc>
                <a:spcPct val="132000"/>
              </a:lnSpc>
              <a:buNone/>
            </a:pPr>
            <a:r>
              <a:rPr lang="en-US" sz="1500" dirty="0">
                <a:solidFill>
                  <a:srgbClr val="61706B"/>
                </a:solidFill>
                <a:latin typeface="Calibri" pitchFamily="34" charset="0"/>
                <a:ea typeface="Calibri" pitchFamily="34" charset="-122"/>
                <a:cs typeface="Calibri" pitchFamily="34" charset="-120"/>
              </a:rPr>
              <a:t>Then every organisation gets the same document.</a:t>
            </a:r>
            <a:endParaRPr lang="en-US" sz="1500" dirty="0"/>
          </a:p>
        </p:txBody>
      </p:sp>
      <p:sp>
        <p:nvSpPr>
          <p:cNvPr id="7" name="Shape 5"/>
          <p:cNvSpPr/>
          <p:nvPr/>
        </p:nvSpPr>
        <p:spPr>
          <a:xfrm>
            <a:off x="7845552" y="2221992"/>
            <a:ext cx="3611880" cy="2423160"/>
          </a:xfrm>
          <a:prstGeom prst="rect">
            <a:avLst/>
          </a:prstGeom>
          <a:solidFill>
            <a:srgbClr val="DFECE6"/>
          </a:solidFill>
          <a:ln/>
        </p:spPr>
      </p:sp>
      <p:sp>
        <p:nvSpPr>
          <p:cNvPr id="8" name="Text 6"/>
          <p:cNvSpPr txBox="1"/>
          <p:nvPr/>
        </p:nvSpPr>
        <p:spPr>
          <a:xfrm>
            <a:off x="8028432" y="2514600"/>
            <a:ext cx="3246120" cy="566928"/>
          </a:xfrm>
          <a:prstGeom prst="rect">
            <a:avLst/>
          </a:prstGeom>
          <a:noFill/>
          <a:ln/>
        </p:spPr>
        <p:txBody>
          <a:bodyPr wrap="square" lIns="0" tIns="0" rIns="0" bIns="0" rtlCol="0" anchor="t"/>
          <a:lstStyle/>
          <a:p>
            <a:pPr indent="0" marL="0">
              <a:lnSpc>
                <a:spcPct val="110000"/>
              </a:lnSpc>
              <a:buNone/>
            </a:pPr>
            <a:r>
              <a:rPr lang="en-US" sz="2500" dirty="0">
                <a:solidFill>
                  <a:srgbClr val="172724"/>
                </a:solidFill>
                <a:latin typeface="Cambria" pitchFamily="34" charset="0"/>
                <a:ea typeface="Cambria" pitchFamily="34" charset="-122"/>
                <a:cs typeface="Cambria" pitchFamily="34" charset="-120"/>
              </a:rPr>
              <a:t>It writes the margins.</a:t>
            </a:r>
            <a:endParaRPr lang="en-US" sz="2500" dirty="0"/>
          </a:p>
        </p:txBody>
      </p:sp>
      <p:sp>
        <p:nvSpPr>
          <p:cNvPr id="9" name="Text 7"/>
          <p:cNvSpPr txBox="1"/>
          <p:nvPr/>
        </p:nvSpPr>
        <p:spPr>
          <a:xfrm>
            <a:off x="8028432" y="3191256"/>
            <a:ext cx="3246120" cy="914400"/>
          </a:xfrm>
          <a:prstGeom prst="rect">
            <a:avLst/>
          </a:prstGeom>
          <a:noFill/>
          <a:ln/>
        </p:spPr>
        <p:txBody>
          <a:bodyPr wrap="square" lIns="0" tIns="0" rIns="0" bIns="0" rtlCol="0" anchor="t"/>
          <a:lstStyle/>
          <a:p>
            <a:pPr indent="0" marL="0">
              <a:lnSpc>
                <a:spcPct val="132000"/>
              </a:lnSpc>
              <a:buNone/>
            </a:pPr>
            <a:r>
              <a:rPr lang="en-US" sz="1500" dirty="0">
                <a:solidFill>
                  <a:srgbClr val="43534E"/>
                </a:solidFill>
                <a:latin typeface="Calibri" pitchFamily="34" charset="0"/>
                <a:ea typeface="Calibri" pitchFamily="34" charset="-122"/>
                <a:cs typeface="Calibri" pitchFamily="34" charset="-120"/>
              </a:rPr>
              <a:t>Three short fields beside the fixed text.</a:t>
            </a:r>
            <a:endParaRPr lang="en-US" sz="1500" dirty="0"/>
          </a:p>
        </p:txBody>
      </p:sp>
      <p:sp>
        <p:nvSpPr>
          <p:cNvPr id="10" name="Text 8"/>
          <p:cNvSpPr txBox="1"/>
          <p:nvPr/>
        </p:nvSpPr>
        <p:spPr>
          <a:xfrm>
            <a:off x="8028432" y="4206240"/>
            <a:ext cx="3246120" cy="27432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CHOSEN</a:t>
            </a:r>
            <a:endParaRPr lang="en-US" sz="1000" dirty="0"/>
          </a:p>
        </p:txBody>
      </p:sp>
      <p:sp>
        <p:nvSpPr>
          <p:cNvPr id="11" name="Text 9"/>
          <p:cNvSpPr txBox="1"/>
          <p:nvPr/>
        </p:nvSpPr>
        <p:spPr>
          <a:xfrm>
            <a:off x="914400" y="5486400"/>
            <a:ext cx="9326880" cy="731520"/>
          </a:xfrm>
          <a:prstGeom prst="rect">
            <a:avLst/>
          </a:prstGeom>
          <a:noFill/>
          <a:ln/>
        </p:spPr>
        <p:txBody>
          <a:bodyPr wrap="square" lIns="0" tIns="0" rIns="0" bIns="0" rtlCol="0" anchor="ctr"/>
          <a:lstStyle/>
          <a:p>
            <a:pPr indent="0" marL="0">
              <a:lnSpc>
                <a:spcPct val="120000"/>
              </a:lnSpc>
              <a:buNone/>
            </a:pPr>
            <a:r>
              <a:rPr lang="en-US" sz="2200" dirty="0">
                <a:solidFill>
                  <a:srgbClr val="172724"/>
                </a:solidFill>
                <a:latin typeface="Cambria" pitchFamily="34" charset="0"/>
                <a:ea typeface="Cambria" pitchFamily="34" charset="-122"/>
                <a:cs typeface="Cambria" pitchFamily="34" charset="-120"/>
              </a:rPr>
              <a:t>It cannot state a requirement, because it is never given a field to put one in.</a:t>
            </a:r>
            <a:endParaRPr lang="en-US" sz="2200" dirty="0"/>
          </a:p>
        </p:txBody>
      </p:sp>
      <p:sp>
        <p:nvSpPr>
          <p:cNvPr id="12" name="Text 10"/>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04 / 05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Shape 0"/>
          <p:cNvSpPr/>
          <p:nvPr/>
        </p:nvSpPr>
        <p:spPr>
          <a:xfrm>
            <a:off x="914400" y="1504188"/>
            <a:ext cx="146304" cy="146304"/>
          </a:xfrm>
          <a:prstGeom prst="ellipse">
            <a:avLst/>
          </a:prstGeom>
          <a:solidFill>
            <a:srgbClr val="1E5146"/>
          </a:solidFill>
          <a:ln/>
        </p:spPr>
      </p:sp>
      <p:sp>
        <p:nvSpPr>
          <p:cNvPr id="3" name="Text 1"/>
          <p:cNvSpPr txBox="1"/>
          <p:nvPr/>
        </p:nvSpPr>
        <p:spPr>
          <a:xfrm>
            <a:off x="1225296" y="914400"/>
            <a:ext cx="1554480" cy="132588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WORKS</a:t>
            </a:r>
            <a:endParaRPr lang="en-US" sz="1000" dirty="0"/>
          </a:p>
        </p:txBody>
      </p:sp>
      <p:sp>
        <p:nvSpPr>
          <p:cNvPr id="4" name="Text 2"/>
          <p:cNvSpPr txBox="1"/>
          <p:nvPr/>
        </p:nvSpPr>
        <p:spPr>
          <a:xfrm>
            <a:off x="2880360" y="914400"/>
            <a:ext cx="8396935" cy="1325880"/>
          </a:xfrm>
          <a:prstGeom prst="rect">
            <a:avLst/>
          </a:prstGeom>
          <a:noFill/>
          <a:ln/>
        </p:spPr>
        <p:txBody>
          <a:bodyPr wrap="square" lIns="0" tIns="0" rIns="0" bIns="0" rtlCol="0" anchor="ctr"/>
          <a:lstStyle/>
          <a:p>
            <a:pPr indent="0" marL="0">
              <a:lnSpc>
                <a:spcPct val="112000"/>
              </a:lnSpc>
              <a:buNone/>
            </a:pPr>
            <a:r>
              <a:rPr lang="en-US" sz="2800" dirty="0">
                <a:solidFill>
                  <a:srgbClr val="172724"/>
                </a:solidFill>
                <a:latin typeface="Cambria" pitchFamily="34" charset="0"/>
                <a:ea typeface="Cambria" pitchFamily="34" charset="-122"/>
                <a:cs typeface="Cambria" pitchFamily="34" charset="-120"/>
              </a:rPr>
              <a:t>The whole loop is live, and I have watched every step of it run.</a:t>
            </a:r>
            <a:endParaRPr lang="en-US" sz="2800" dirty="0"/>
          </a:p>
        </p:txBody>
      </p:sp>
      <p:sp>
        <p:nvSpPr>
          <p:cNvPr id="5" name="Shape 3"/>
          <p:cNvSpPr/>
          <p:nvPr/>
        </p:nvSpPr>
        <p:spPr>
          <a:xfrm>
            <a:off x="914400" y="3177540"/>
            <a:ext cx="146304" cy="146304"/>
          </a:xfrm>
          <a:prstGeom prst="ellipse">
            <a:avLst/>
          </a:prstGeom>
          <a:solidFill>
            <a:srgbClr val="61706B"/>
          </a:solidFill>
          <a:ln/>
        </p:spPr>
      </p:sp>
      <p:sp>
        <p:nvSpPr>
          <p:cNvPr id="6" name="Text 4"/>
          <p:cNvSpPr txBox="1"/>
          <p:nvPr/>
        </p:nvSpPr>
        <p:spPr>
          <a:xfrm>
            <a:off x="1225296" y="2587752"/>
            <a:ext cx="1554480" cy="132588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DOES NOT</a:t>
            </a:r>
            <a:endParaRPr lang="en-US" sz="1000" dirty="0"/>
          </a:p>
        </p:txBody>
      </p:sp>
      <p:sp>
        <p:nvSpPr>
          <p:cNvPr id="7" name="Text 5"/>
          <p:cNvSpPr txBox="1"/>
          <p:nvPr/>
        </p:nvSpPr>
        <p:spPr>
          <a:xfrm>
            <a:off x="2880360" y="2587752"/>
            <a:ext cx="8396935" cy="1325880"/>
          </a:xfrm>
          <a:prstGeom prst="rect">
            <a:avLst/>
          </a:prstGeom>
          <a:noFill/>
          <a:ln/>
        </p:spPr>
        <p:txBody>
          <a:bodyPr wrap="square" lIns="0" tIns="0" rIns="0" bIns="0" rtlCol="0" anchor="ctr"/>
          <a:lstStyle/>
          <a:p>
            <a:pPr indent="0" marL="0">
              <a:lnSpc>
                <a:spcPct val="112000"/>
              </a:lnSpc>
              <a:buNone/>
            </a:pPr>
            <a:r>
              <a:rPr lang="en-US" sz="2800" dirty="0">
                <a:solidFill>
                  <a:srgbClr val="43534E"/>
                </a:solidFill>
                <a:latin typeface="Cambria" pitchFamily="34" charset="0"/>
                <a:ea typeface="Cambria" pitchFamily="34" charset="-122"/>
                <a:cs typeface="Cambria" pitchFamily="34" charset="-120"/>
              </a:rPr>
              <a:t>Nobody has signed off that the transcription is faithful.</a:t>
            </a:r>
            <a:endParaRPr lang="en-US" sz="2800" dirty="0"/>
          </a:p>
        </p:txBody>
      </p:sp>
      <p:sp>
        <p:nvSpPr>
          <p:cNvPr id="8" name="Shape 6"/>
          <p:cNvSpPr/>
          <p:nvPr/>
        </p:nvSpPr>
        <p:spPr>
          <a:xfrm>
            <a:off x="914400" y="4850892"/>
            <a:ext cx="146304" cy="146304"/>
          </a:xfrm>
          <a:prstGeom prst="ellipse">
            <a:avLst/>
          </a:prstGeom>
          <a:solidFill>
            <a:srgbClr val="8F6520"/>
          </a:solidFill>
          <a:ln/>
        </p:spPr>
      </p:sp>
      <p:sp>
        <p:nvSpPr>
          <p:cNvPr id="9" name="Text 7"/>
          <p:cNvSpPr txBox="1"/>
          <p:nvPr/>
        </p:nvSpPr>
        <p:spPr>
          <a:xfrm>
            <a:off x="1225296" y="4261104"/>
            <a:ext cx="1554480" cy="132588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NEXT</a:t>
            </a:r>
            <a:endParaRPr lang="en-US" sz="1000" dirty="0"/>
          </a:p>
        </p:txBody>
      </p:sp>
      <p:sp>
        <p:nvSpPr>
          <p:cNvPr id="10" name="Text 8"/>
          <p:cNvSpPr txBox="1"/>
          <p:nvPr/>
        </p:nvSpPr>
        <p:spPr>
          <a:xfrm>
            <a:off x="2880360" y="4261104"/>
            <a:ext cx="8396935" cy="1325880"/>
          </a:xfrm>
          <a:prstGeom prst="rect">
            <a:avLst/>
          </a:prstGeom>
          <a:noFill/>
          <a:ln/>
        </p:spPr>
        <p:txBody>
          <a:bodyPr wrap="square" lIns="0" tIns="0" rIns="0" bIns="0" rtlCol="0" anchor="ctr"/>
          <a:lstStyle/>
          <a:p>
            <a:pPr indent="0" marL="0">
              <a:lnSpc>
                <a:spcPct val="112000"/>
              </a:lnSpc>
              <a:buNone/>
            </a:pPr>
            <a:r>
              <a:rPr lang="en-US" sz="2800" dirty="0">
                <a:solidFill>
                  <a:srgbClr val="172724"/>
                </a:solidFill>
                <a:latin typeface="Cambria" pitchFamily="34" charset="0"/>
                <a:ea typeface="Cambria" pitchFamily="34" charset="-122"/>
                <a:cs typeface="Cambria" pitchFamily="34" charset="-120"/>
              </a:rPr>
              <a:t>Take it again in six months, and show the board 4 of 8 became 7.</a:t>
            </a:r>
            <a:endParaRPr lang="en-US" sz="2800" dirty="0"/>
          </a:p>
        </p:txBody>
      </p:sp>
      <p:sp>
        <p:nvSpPr>
          <p:cNvPr id="11" name="Text 9"/>
          <p:cNvSpPr txBox="1"/>
          <p:nvPr/>
        </p:nvSpPr>
        <p:spPr>
          <a:xfrm>
            <a:off x="914400" y="5779008"/>
            <a:ext cx="8046720" cy="384048"/>
          </a:xfrm>
          <a:prstGeom prst="rect">
            <a:avLst/>
          </a:prstGeom>
          <a:noFill/>
          <a:ln/>
        </p:spPr>
        <p:txBody>
          <a:bodyPr wrap="square" lIns="0" tIns="0" rIns="0" bIns="0" rtlCol="0" anchor="ctr"/>
          <a:lstStyle/>
          <a:p>
            <a:pPr indent="0" marL="0">
              <a:buNone/>
            </a:pPr>
            <a:r>
              <a:rPr lang="en-US" sz="1600" dirty="0">
                <a:solidFill>
                  <a:srgbClr val="43534E"/>
                </a:solidFill>
                <a:latin typeface="Calibri" pitchFamily="34" charset="0"/>
                <a:ea typeface="Calibri" pitchFamily="34" charset="-122"/>
                <a:cs typeface="Calibri" pitchFamily="34" charset="-120"/>
              </a:rPr>
              <a:t>Until the words are signed off, it is a working prototype.</a:t>
            </a:r>
            <a:endParaRPr lang="en-US" sz="1600" dirty="0"/>
          </a:p>
        </p:txBody>
      </p:sp>
      <p:sp>
        <p:nvSpPr>
          <p:cNvPr id="12" name="Text 10"/>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05 / 05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Minimum in Five Minutes</dc:title>
  <dc:subject>PptxGenJS Presentation</dc:subject>
  <dc:creator>Governance AI</dc:creator>
  <cp:lastModifiedBy>Governance AI</cp:lastModifiedBy>
  <cp:revision>1</cp:revision>
  <dcterms:created xsi:type="dcterms:W3CDTF">2026-09-04T13:39:46Z</dcterms:created>
  <dcterms:modified xsi:type="dcterms:W3CDTF">2026-09-04T13:39:46Z</dcterms:modified>
</cp:coreProperties>
</file>