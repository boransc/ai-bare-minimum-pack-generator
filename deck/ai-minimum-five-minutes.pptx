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 have built is a website that lets a small charity work out in about ten minutes, without speaking to anybody, whether it meets the basic standard for using AI safely, and then hands it the paperwork to fix whatever is missing. The content is not mine — it is The AI Bare Minimum Pack from Governance AI, which until now has been a Word document that this adapts to whoever is filling it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result from testing the live site, and it explains better than anything why this had to be a product rather than a quiz. Six points out of eight, seventy-five per cent, and yet the product tells that organisation in the first line on the page, above the score, that it does not meet the minimum, because two of those eight points are not like the other six. One of them asks whether you have written down what your staff must never type into an AI tool, the other asks whether a human being checks AI work before it reaches a client, and failing either one means the total simply stops mattering.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describe it, let me show you what an organisation actually sees. So that is the eight questions, the check, and then the pack, with the verdict coming first and the score second, their sector and size changing the wording but never the rules, and a policy carrying blanks they fill in here and we save, which they can take away as a Word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hardest decision was whether the AI should be allowed to write the policy at all, and there were only three answers available. Letting it write the whole pack is fast and completely unusable, because it invents obligations nobody wrote, and will happily tell a housing association it has thirty days to file a report that does not exist. Letting it write nothing is perfectly safe, but then every organisation gets an identical document they could already have downloaded for free. So what I did was fix the Pack's own words in place and let the AI write only in the three short passages that sit beside them, and the part I would defend hardest is that it cannot state a rule even if it tried, because there is nowhere for it to put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for where it stands, the whole loop is live and I have watched every step of it run on the deployed site rather than on my laptop, but nobody has yet confirmed that my transcription of the Pack is faithful, and typing a document into code carefully is not the same thing as having it signed off. So until somebody does that, this is a working prototype rather than something you would put in front of the public. What I would do next is let an organisation take the check again in six months, so that a board can watch four out of eight become seven.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5F0"/>
        </a:solidFill>
      </p:bgPr>
    </p:bg>
    <p:spTree>
      <p:nvGrpSpPr>
        <p:cNvPr id="1" name=""/>
        <p:cNvGrpSpPr/>
        <p:nvPr/>
      </p:nvGrpSpPr>
      <p:grpSpPr>
        <a:xfrm>
          <a:off x="0" y="0"/>
          <a:ext cx="0" cy="0"/>
          <a:chOff x="0" y="0"/>
          <a:chExt cx="0" cy="0"/>
        </a:xfrm>
      </p:grpSpPr>
      <p:sp>
        <p:nvSpPr>
          <p:cNvPr id="2" name="Shape 0"/>
          <p:cNvSpPr/>
          <p:nvPr/>
        </p:nvSpPr>
        <p:spPr>
          <a:xfrm>
            <a:off x="914400" y="566928"/>
            <a:ext cx="310896" cy="310896"/>
          </a:xfrm>
          <a:prstGeom prst="ellipse">
            <a:avLst/>
          </a:prstGeom>
          <a:solidFill>
            <a:srgbClr val="1E5146"/>
          </a:solidFill>
          <a:ln/>
        </p:spPr>
      </p:sp>
      <p:sp>
        <p:nvSpPr>
          <p:cNvPr id="3" name="Text 1"/>
          <p:cNvSpPr txBox="1"/>
          <p:nvPr/>
        </p:nvSpPr>
        <p:spPr>
          <a:xfrm>
            <a:off x="914400" y="566928"/>
            <a:ext cx="310896" cy="310896"/>
          </a:xfrm>
          <a:prstGeom prst="rect">
            <a:avLst/>
          </a:prstGeom>
          <a:noFill/>
          <a:ln/>
        </p:spPr>
        <p:txBody>
          <a:bodyPr wrap="square" lIns="0" tIns="0" rIns="0" bIns="0" rtlCol="0" anchor="ctr"/>
          <a:lstStyle/>
          <a:p>
            <a:pPr algn="ctr" indent="0" marL="0">
              <a:buNone/>
            </a:pPr>
            <a:r>
              <a:rPr lang="en-US" sz="1500" b="1" dirty="0">
                <a:solidFill>
                  <a:srgbClr val="FFFEFA"/>
                </a:solidFill>
                <a:latin typeface="Cambria" pitchFamily="34" charset="0"/>
                <a:ea typeface="Cambria" pitchFamily="34" charset="-122"/>
                <a:cs typeface="Cambria" pitchFamily="34" charset="-120"/>
              </a:rPr>
              <a:t>G</a:t>
            </a:r>
            <a:endParaRPr lang="en-US" sz="1500" dirty="0"/>
          </a:p>
        </p:txBody>
      </p:sp>
      <p:sp>
        <p:nvSpPr>
          <p:cNvPr id="4" name="Text 2"/>
          <p:cNvSpPr txBox="1"/>
          <p:nvPr/>
        </p:nvSpPr>
        <p:spPr>
          <a:xfrm>
            <a:off x="1353312" y="585216"/>
            <a:ext cx="3657600" cy="274320"/>
          </a:xfrm>
          <a:prstGeom prst="rect">
            <a:avLst/>
          </a:prstGeom>
          <a:noFill/>
          <a:ln/>
        </p:spPr>
        <p:txBody>
          <a:bodyPr wrap="square" lIns="0" tIns="0" rIns="0" bIns="0" rtlCol="0" anchor="ctr"/>
          <a:lstStyle/>
          <a:p>
            <a:pPr algn="l" indent="0" marL="0">
              <a:buNone/>
            </a:pPr>
            <a:r>
              <a:rPr lang="en-US" sz="1000" spc="160" kern="0" dirty="0">
                <a:solidFill>
                  <a:srgbClr val="61706B"/>
                </a:solidFill>
                <a:latin typeface="Consolas" pitchFamily="34" charset="0"/>
                <a:ea typeface="Consolas" pitchFamily="34" charset="-122"/>
                <a:cs typeface="Consolas" pitchFamily="34" charset="-120"/>
              </a:rPr>
              <a:t>GOVERNANCE AI</a:t>
            </a:r>
            <a:endParaRPr lang="en-US" sz="1000" dirty="0"/>
          </a:p>
        </p:txBody>
      </p:sp>
      <p:sp>
        <p:nvSpPr>
          <p:cNvPr id="5" name="Text 3"/>
          <p:cNvSpPr txBox="1"/>
          <p:nvPr/>
        </p:nvSpPr>
        <p:spPr>
          <a:xfrm>
            <a:off x="914400" y="1737360"/>
            <a:ext cx="9814255" cy="3017520"/>
          </a:xfrm>
          <a:prstGeom prst="rect">
            <a:avLst/>
          </a:prstGeom>
          <a:noFill/>
          <a:ln/>
        </p:spPr>
        <p:txBody>
          <a:bodyPr wrap="square" lIns="0" tIns="0" rIns="0" bIns="0" rtlCol="0" anchor="t"/>
          <a:lstStyle/>
          <a:p>
            <a:pPr indent="0" marL="0">
              <a:lnSpc>
                <a:spcPct val="106000"/>
              </a:lnSpc>
              <a:buNone/>
            </a:pPr>
            <a:r>
              <a:rPr lang="en-US" sz="4000" dirty="0">
                <a:solidFill>
                  <a:srgbClr val="172724"/>
                </a:solidFill>
                <a:latin typeface="Cambria" pitchFamily="34" charset="0"/>
                <a:ea typeface="Cambria" pitchFamily="34" charset="-122"/>
                <a:cs typeface="Cambria" pitchFamily="34" charset="-120"/>
              </a:rPr>
              <a:t>A small charity can find out in ten minutes whether it meets the AI minimum — and leave with the paperwork to fix it.</a:t>
            </a:r>
            <a:endParaRPr lang="en-US" sz="4000" dirty="0"/>
          </a:p>
        </p:txBody>
      </p:sp>
      <p:sp>
        <p:nvSpPr>
          <p:cNvPr id="6" name="Text 4"/>
          <p:cNvSpPr txBox="1"/>
          <p:nvPr/>
        </p:nvSpPr>
        <p:spPr>
          <a:xfrm>
            <a:off x="914400" y="5029200"/>
            <a:ext cx="6400800" cy="365760"/>
          </a:xfrm>
          <a:prstGeom prst="rect">
            <a:avLst/>
          </a:prstGeom>
          <a:noFill/>
          <a:ln/>
        </p:spPr>
        <p:txBody>
          <a:bodyPr wrap="square" lIns="0" tIns="0" rIns="0" bIns="0" rtlCol="0" anchor="ctr"/>
          <a:lstStyle/>
          <a:p>
            <a:pPr indent="0" marL="0">
              <a:buNone/>
            </a:pPr>
            <a:r>
              <a:rPr lang="en-US" sz="1600" dirty="0">
                <a:solidFill>
                  <a:srgbClr val="43534E"/>
                </a:solidFill>
                <a:latin typeface="Calibri" pitchFamily="34" charset="0"/>
                <a:ea typeface="Calibri" pitchFamily="34" charset="-122"/>
                <a:cs typeface="Calibri" pitchFamily="34" charset="-120"/>
              </a:rPr>
              <a:t>Built on The AI Bare Minimum Pack.</a:t>
            </a:r>
            <a:endParaRPr lang="en-US" sz="1600" dirty="0"/>
          </a:p>
        </p:txBody>
      </p:sp>
      <p:sp>
        <p:nvSpPr>
          <p:cNvPr id="7" name="Text 5"/>
          <p:cNvSpPr txBox="1"/>
          <p:nvPr/>
        </p:nvSpPr>
        <p:spPr>
          <a:xfrm>
            <a:off x="9448495" y="6144768"/>
            <a:ext cx="1828800" cy="274320"/>
          </a:xfrm>
          <a:prstGeom prst="rect">
            <a:avLst/>
          </a:prstGeom>
          <a:noFill/>
          <a:ln/>
        </p:spPr>
        <p:txBody>
          <a:bodyPr wrap="square" lIns="0" tIns="0" rIns="0" bIns="0" rtlCol="0" anchor="ctr"/>
          <a:lstStyle/>
          <a:p>
            <a:pPr algn="r" indent="0" marL="0">
              <a:buNone/>
            </a:pPr>
            <a:r>
              <a:rPr lang="en-US" sz="1000" spc="160" kern="0" dirty="0">
                <a:solidFill>
                  <a:srgbClr val="61706B"/>
                </a:solidFill>
                <a:latin typeface="Consolas" pitchFamily="34" charset="0"/>
                <a:ea typeface="Consolas" pitchFamily="34" charset="-122"/>
                <a:cs typeface="Consolas" pitchFamily="34" charset="-120"/>
              </a:rPr>
              <a:t>01 / 05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p:bgPr>
    </p:bg>
    <p:spTree>
      <p:nvGrpSpPr>
        <p:cNvPr id="1" name=""/>
        <p:cNvGrpSpPr/>
        <p:nvPr/>
      </p:nvGrpSpPr>
      <p:grpSpPr>
        <a:xfrm>
          <a:off x="0" y="0"/>
          <a:ext cx="0" cy="0"/>
          <a:chOff x="0" y="0"/>
          <a:chExt cx="0" cy="0"/>
        </a:xfrm>
      </p:grpSpPr>
      <p:sp>
        <p:nvSpPr>
          <p:cNvPr id="2" name="Text 0"/>
          <p:cNvSpPr txBox="1"/>
          <p:nvPr/>
        </p:nvSpPr>
        <p:spPr>
          <a:xfrm>
            <a:off x="914400" y="685800"/>
            <a:ext cx="7315200" cy="411480"/>
          </a:xfrm>
          <a:prstGeom prst="rect">
            <a:avLst/>
          </a:prstGeom>
          <a:noFill/>
          <a:ln/>
        </p:spPr>
        <p:txBody>
          <a:bodyPr wrap="square" lIns="0" tIns="0" rIns="0" bIns="0" rtlCol="0" anchor="ctr"/>
          <a:lstStyle/>
          <a:p>
            <a:pPr indent="0" marL="0">
              <a:buNone/>
            </a:pPr>
            <a:r>
              <a:rPr lang="en-US" sz="1700" dirty="0">
                <a:solidFill>
                  <a:srgbClr val="43534E"/>
                </a:solidFill>
                <a:latin typeface="Calibri" pitchFamily="34" charset="0"/>
                <a:ea typeface="Calibri" pitchFamily="34" charset="-122"/>
                <a:cs typeface="Calibri" pitchFamily="34" charset="-120"/>
              </a:rPr>
              <a:t>A real result from testing the live site.</a:t>
            </a:r>
            <a:endParaRPr lang="en-US" sz="1700" dirty="0"/>
          </a:p>
        </p:txBody>
      </p:sp>
      <p:sp>
        <p:nvSpPr>
          <p:cNvPr id="3" name="Text 1"/>
          <p:cNvSpPr txBox="1"/>
          <p:nvPr/>
        </p:nvSpPr>
        <p:spPr>
          <a:xfrm>
            <a:off x="914400" y="1417320"/>
            <a:ext cx="4663440" cy="2834640"/>
          </a:xfrm>
          <a:prstGeom prst="rect">
            <a:avLst/>
          </a:prstGeom>
          <a:noFill/>
          <a:ln/>
        </p:spPr>
        <p:txBody>
          <a:bodyPr wrap="square" lIns="0" tIns="0" rIns="0" bIns="0" rtlCol="0" anchor="ctr"/>
          <a:lstStyle/>
          <a:p>
            <a:pPr algn="l" indent="0" marL="0">
              <a:buNone/>
            </a:pPr>
            <a:r>
              <a:rPr lang="en-US" sz="13200" dirty="0">
                <a:solidFill>
                  <a:srgbClr val="172724"/>
                </a:solidFill>
                <a:latin typeface="Cambria" pitchFamily="34" charset="0"/>
                <a:ea typeface="Cambria" pitchFamily="34" charset="-122"/>
                <a:cs typeface="Cambria" pitchFamily="34" charset="-120"/>
              </a:rPr>
              <a:t>6</a:t>
            </a:r>
            <a:pPr algn="l" indent="0" marL="0">
              <a:buNone/>
            </a:pPr>
            <a:r>
              <a:rPr lang="en-US" sz="13200" dirty="0">
                <a:solidFill>
                  <a:srgbClr val="61706B"/>
                </a:solidFill>
                <a:latin typeface="Cambria" pitchFamily="34" charset="0"/>
                <a:ea typeface="Cambria" pitchFamily="34" charset="-122"/>
                <a:cs typeface="Cambria" pitchFamily="34" charset="-120"/>
              </a:rPr>
              <a:t>/8</a:t>
            </a:r>
            <a:endParaRPr lang="en-US" sz="13200" dirty="0"/>
          </a:p>
        </p:txBody>
      </p:sp>
      <p:sp>
        <p:nvSpPr>
          <p:cNvPr id="4" name="Text 2"/>
          <p:cNvSpPr txBox="1"/>
          <p:nvPr/>
        </p:nvSpPr>
        <p:spPr>
          <a:xfrm>
            <a:off x="914400" y="4389120"/>
            <a:ext cx="4572000" cy="274320"/>
          </a:xfrm>
          <a:prstGeom prst="rect">
            <a:avLst/>
          </a:prstGeom>
          <a:noFill/>
          <a:ln/>
        </p:spPr>
        <p:txBody>
          <a:bodyPr wrap="square" lIns="0" tIns="0" rIns="0" bIns="0" rtlCol="0" anchor="ctr"/>
          <a:lstStyle/>
          <a:p>
            <a:pPr algn="l" indent="0" marL="0">
              <a:buNone/>
            </a:pPr>
            <a:r>
              <a:rPr lang="en-US" sz="1000" spc="160" kern="0" dirty="0">
                <a:solidFill>
                  <a:srgbClr val="8F6520"/>
                </a:solidFill>
                <a:latin typeface="Consolas" pitchFamily="34" charset="0"/>
                <a:ea typeface="Consolas" pitchFamily="34" charset="-122"/>
                <a:cs typeface="Consolas" pitchFamily="34" charset="-120"/>
              </a:rPr>
              <a:t>POINTS EVIDENCED</a:t>
            </a:r>
            <a:endParaRPr lang="en-US" sz="1000" dirty="0"/>
          </a:p>
        </p:txBody>
      </p:sp>
      <p:sp>
        <p:nvSpPr>
          <p:cNvPr id="5" name="Text 3"/>
          <p:cNvSpPr txBox="1"/>
          <p:nvPr/>
        </p:nvSpPr>
        <p:spPr>
          <a:xfrm>
            <a:off x="5943600" y="1554480"/>
            <a:ext cx="5330952" cy="1737360"/>
          </a:xfrm>
          <a:prstGeom prst="rect">
            <a:avLst/>
          </a:prstGeom>
          <a:noFill/>
          <a:ln/>
        </p:spPr>
        <p:txBody>
          <a:bodyPr wrap="square" lIns="0" tIns="0" rIns="0" bIns="0" rtlCol="0" anchor="t"/>
          <a:lstStyle/>
          <a:p>
            <a:pPr indent="0" marL="0">
              <a:lnSpc>
                <a:spcPct val="106000"/>
              </a:lnSpc>
              <a:buNone/>
            </a:pPr>
            <a:r>
              <a:rPr lang="en-US" sz="4200" dirty="0">
                <a:solidFill>
                  <a:srgbClr val="8C2A2A"/>
                </a:solidFill>
                <a:latin typeface="Cambria" pitchFamily="34" charset="0"/>
                <a:ea typeface="Cambria" pitchFamily="34" charset="-122"/>
                <a:cs typeface="Cambria" pitchFamily="34" charset="-120"/>
              </a:rPr>
              <a:t>The minimum</a:t>
            </a:r>
            <a:endParaRPr lang="en-US" sz="4200" dirty="0"/>
          </a:p>
          <a:p>
            <a:pPr indent="0" marL="0">
              <a:lnSpc>
                <a:spcPct val="106000"/>
              </a:lnSpc>
              <a:buNone/>
            </a:pPr>
            <a:r>
              <a:rPr lang="en-US" sz="4200" dirty="0">
                <a:solidFill>
                  <a:srgbClr val="8C2A2A"/>
                </a:solidFill>
                <a:latin typeface="Cambria" pitchFamily="34" charset="0"/>
                <a:ea typeface="Cambria" pitchFamily="34" charset="-122"/>
                <a:cs typeface="Cambria" pitchFamily="34" charset="-120"/>
              </a:rPr>
              <a:t>is not met.</a:t>
            </a:r>
            <a:endParaRPr lang="en-US" sz="4200" dirty="0"/>
          </a:p>
        </p:txBody>
      </p:sp>
      <p:sp>
        <p:nvSpPr>
          <p:cNvPr id="6" name="Text 4"/>
          <p:cNvSpPr txBox="1"/>
          <p:nvPr/>
        </p:nvSpPr>
        <p:spPr>
          <a:xfrm>
            <a:off x="5943600" y="3520440"/>
            <a:ext cx="5120640" cy="1371600"/>
          </a:xfrm>
          <a:prstGeom prst="rect">
            <a:avLst/>
          </a:prstGeom>
          <a:noFill/>
          <a:ln/>
        </p:spPr>
        <p:txBody>
          <a:bodyPr wrap="square" lIns="0" tIns="0" rIns="0" bIns="0" rtlCol="0" anchor="t"/>
          <a:lstStyle/>
          <a:p>
            <a:pPr indent="0" marL="0">
              <a:lnSpc>
                <a:spcPct val="140000"/>
              </a:lnSpc>
              <a:buNone/>
            </a:pPr>
            <a:r>
              <a:rPr lang="en-US" sz="1700" dirty="0">
                <a:solidFill>
                  <a:srgbClr val="43534E"/>
                </a:solidFill>
                <a:latin typeface="Calibri" pitchFamily="34" charset="0"/>
                <a:ea typeface="Calibri" pitchFamily="34" charset="-122"/>
                <a:cs typeface="Calibri" pitchFamily="34" charset="-120"/>
              </a:rPr>
              <a:t>Two of the eight points are red lines. Fail either one and the total stops mattering.</a:t>
            </a:r>
            <a:endParaRPr lang="en-US" sz="1700" dirty="0"/>
          </a:p>
        </p:txBody>
      </p:sp>
      <p:sp>
        <p:nvSpPr>
          <p:cNvPr id="7" name="Text 5"/>
          <p:cNvSpPr txBox="1"/>
          <p:nvPr/>
        </p:nvSpPr>
        <p:spPr>
          <a:xfrm>
            <a:off x="914400" y="5440680"/>
            <a:ext cx="8138160" cy="502920"/>
          </a:xfrm>
          <a:prstGeom prst="rect">
            <a:avLst/>
          </a:prstGeom>
          <a:noFill/>
          <a:ln/>
        </p:spPr>
        <p:txBody>
          <a:bodyPr wrap="square" lIns="0" tIns="0" rIns="0" bIns="0" rtlCol="0" anchor="ctr"/>
          <a:lstStyle/>
          <a:p>
            <a:pPr indent="0" marL="0">
              <a:buNone/>
            </a:pPr>
            <a:r>
              <a:rPr lang="en-US" sz="2100" i="1" dirty="0">
                <a:solidFill>
                  <a:srgbClr val="172724"/>
                </a:solidFill>
                <a:latin typeface="Cambria" pitchFamily="34" charset="0"/>
                <a:ea typeface="Cambria" pitchFamily="34" charset="-122"/>
                <a:cs typeface="Cambria" pitchFamily="34" charset="-120"/>
              </a:rPr>
              <a:t>A score that flatters you is worse than no score at all.</a:t>
            </a:r>
            <a:endParaRPr lang="en-US" sz="2100" dirty="0"/>
          </a:p>
        </p:txBody>
      </p:sp>
      <p:sp>
        <p:nvSpPr>
          <p:cNvPr id="8" name="Text 6"/>
          <p:cNvSpPr txBox="1"/>
          <p:nvPr/>
        </p:nvSpPr>
        <p:spPr>
          <a:xfrm>
            <a:off x="9448495" y="6144768"/>
            <a:ext cx="1828800" cy="274320"/>
          </a:xfrm>
          <a:prstGeom prst="rect">
            <a:avLst/>
          </a:prstGeom>
          <a:noFill/>
          <a:ln/>
        </p:spPr>
        <p:txBody>
          <a:bodyPr wrap="square" lIns="0" tIns="0" rIns="0" bIns="0" rtlCol="0" anchor="ctr"/>
          <a:lstStyle/>
          <a:p>
            <a:pPr algn="r" indent="0" marL="0">
              <a:buNone/>
            </a:pPr>
            <a:r>
              <a:rPr lang="en-US" sz="1000" spc="160" kern="0" dirty="0">
                <a:solidFill>
                  <a:srgbClr val="61706B"/>
                </a:solidFill>
                <a:latin typeface="Consolas" pitchFamily="34" charset="0"/>
                <a:ea typeface="Consolas" pitchFamily="34" charset="-122"/>
                <a:cs typeface="Consolas" pitchFamily="34" charset="-120"/>
              </a:rPr>
              <a:t>02 / 05</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5146"/>
        </a:solidFill>
      </p:bgPr>
    </p:bg>
    <p:spTree>
      <p:nvGrpSpPr>
        <p:cNvPr id="1" name=""/>
        <p:cNvGrpSpPr/>
        <p:nvPr/>
      </p:nvGrpSpPr>
      <p:grpSpPr>
        <a:xfrm>
          <a:off x="0" y="0"/>
          <a:ext cx="0" cy="0"/>
          <a:chOff x="0" y="0"/>
          <a:chExt cx="0" cy="0"/>
        </a:xfrm>
      </p:grpSpPr>
      <p:sp>
        <p:nvSpPr>
          <p:cNvPr id="2" name="Text 0"/>
          <p:cNvSpPr txBox="1"/>
          <p:nvPr/>
        </p:nvSpPr>
        <p:spPr>
          <a:xfrm>
            <a:off x="914400" y="685800"/>
            <a:ext cx="4572000" cy="274320"/>
          </a:xfrm>
          <a:prstGeom prst="rect">
            <a:avLst/>
          </a:prstGeom>
          <a:noFill/>
          <a:ln/>
        </p:spPr>
        <p:txBody>
          <a:bodyPr wrap="square" lIns="0" tIns="0" rIns="0" bIns="0" rtlCol="0" anchor="ctr"/>
          <a:lstStyle/>
          <a:p>
            <a:pPr algn="l" indent="0" marL="0">
              <a:buNone/>
            </a:pPr>
            <a:r>
              <a:rPr lang="en-US" sz="1000" spc="160" kern="0" dirty="0">
                <a:solidFill>
                  <a:srgbClr val="A8C7BC"/>
                </a:solidFill>
                <a:latin typeface="Consolas" pitchFamily="34" charset="0"/>
                <a:ea typeface="Consolas" pitchFamily="34" charset="-122"/>
                <a:cs typeface="Consolas" pitchFamily="34" charset="-120"/>
              </a:rPr>
              <a:t>ABOUT A MINUTE</a:t>
            </a:r>
            <a:endParaRPr lang="en-US" sz="1000" dirty="0"/>
          </a:p>
        </p:txBody>
      </p:sp>
      <p:sp>
        <p:nvSpPr>
          <p:cNvPr id="3" name="Text 1"/>
          <p:cNvSpPr txBox="1"/>
          <p:nvPr/>
        </p:nvSpPr>
        <p:spPr>
          <a:xfrm>
            <a:off x="914400" y="2103120"/>
            <a:ext cx="7315200" cy="1737360"/>
          </a:xfrm>
          <a:prstGeom prst="rect">
            <a:avLst/>
          </a:prstGeom>
          <a:noFill/>
          <a:ln/>
        </p:spPr>
        <p:txBody>
          <a:bodyPr wrap="square" lIns="0" tIns="0" rIns="0" bIns="0" rtlCol="0" anchor="ctr"/>
          <a:lstStyle/>
          <a:p>
            <a:pPr indent="0" marL="0">
              <a:buNone/>
            </a:pPr>
            <a:r>
              <a:rPr lang="en-US" sz="9600" dirty="0">
                <a:solidFill>
                  <a:srgbClr val="FFFEFA"/>
                </a:solidFill>
                <a:latin typeface="Cambria" pitchFamily="34" charset="0"/>
                <a:ea typeface="Cambria" pitchFamily="34" charset="-122"/>
                <a:cs typeface="Cambria" pitchFamily="34" charset="-120"/>
              </a:rPr>
              <a:t>Live.</a:t>
            </a:r>
            <a:endParaRPr lang="en-US" sz="9600" dirty="0"/>
          </a:p>
        </p:txBody>
      </p:sp>
      <p:sp>
        <p:nvSpPr>
          <p:cNvPr id="4" name="Text 2"/>
          <p:cNvSpPr txBox="1"/>
          <p:nvPr/>
        </p:nvSpPr>
        <p:spPr>
          <a:xfrm>
            <a:off x="914400" y="4023360"/>
            <a:ext cx="7315200" cy="457200"/>
          </a:xfrm>
          <a:prstGeom prst="rect">
            <a:avLst/>
          </a:prstGeom>
          <a:noFill/>
          <a:ln/>
        </p:spPr>
        <p:txBody>
          <a:bodyPr wrap="square" lIns="0" tIns="0" rIns="0" bIns="0" rtlCol="0" anchor="ctr"/>
          <a:lstStyle/>
          <a:p>
            <a:pPr indent="0" marL="0">
              <a:buNone/>
            </a:pPr>
            <a:r>
              <a:rPr lang="en-US" sz="1800" dirty="0">
                <a:solidFill>
                  <a:srgbClr val="DFECE6"/>
                </a:solidFill>
                <a:latin typeface="Calibri" pitchFamily="34" charset="0"/>
                <a:ea typeface="Calibri" pitchFamily="34" charset="-122"/>
                <a:cs typeface="Calibri" pitchFamily="34" charset="-120"/>
              </a:rPr>
              <a:t>Eight questions, then the pack.</a:t>
            </a:r>
            <a:endParaRPr lang="en-US" sz="1800" dirty="0"/>
          </a:p>
        </p:txBody>
      </p:sp>
      <p:sp>
        <p:nvSpPr>
          <p:cNvPr id="5" name="Text 3"/>
          <p:cNvSpPr txBox="1"/>
          <p:nvPr/>
        </p:nvSpPr>
        <p:spPr>
          <a:xfrm>
            <a:off x="914400" y="6035040"/>
            <a:ext cx="7315200" cy="365760"/>
          </a:xfrm>
          <a:prstGeom prst="rect">
            <a:avLst/>
          </a:prstGeom>
          <a:noFill/>
          <a:ln/>
        </p:spPr>
        <p:txBody>
          <a:bodyPr wrap="square" lIns="0" tIns="0" rIns="0" bIns="0" rtlCol="0" anchor="ctr"/>
          <a:lstStyle/>
          <a:p>
            <a:pPr indent="0" marL="0">
              <a:buNone/>
            </a:pPr>
            <a:r>
              <a:rPr lang="en-US" sz="1200" dirty="0">
                <a:solidFill>
                  <a:srgbClr val="A8C7BC"/>
                </a:solidFill>
                <a:latin typeface="Consolas" pitchFamily="34" charset="0"/>
                <a:ea typeface="Consolas" pitchFamily="34" charset="-122"/>
                <a:cs typeface="Consolas" pitchFamily="34" charset="-120"/>
              </a:rPr>
              <a:t>ai-bare-minimum-pack-generator.vercel.app</a:t>
            </a:r>
            <a:endParaRPr lang="en-US" sz="1200" dirty="0"/>
          </a:p>
        </p:txBody>
      </p:sp>
      <p:sp>
        <p:nvSpPr>
          <p:cNvPr id="6" name="Text 4"/>
          <p:cNvSpPr txBox="1"/>
          <p:nvPr/>
        </p:nvSpPr>
        <p:spPr>
          <a:xfrm>
            <a:off x="9448495" y="6144768"/>
            <a:ext cx="1828800" cy="274320"/>
          </a:xfrm>
          <a:prstGeom prst="rect">
            <a:avLst/>
          </a:prstGeom>
          <a:noFill/>
          <a:ln/>
        </p:spPr>
        <p:txBody>
          <a:bodyPr wrap="square" lIns="0" tIns="0" rIns="0" bIns="0" rtlCol="0" anchor="ctr"/>
          <a:lstStyle/>
          <a:p>
            <a:pPr algn="r" indent="0" marL="0">
              <a:buNone/>
            </a:pPr>
            <a:r>
              <a:rPr lang="en-US" sz="1000" spc="160" kern="0" dirty="0">
                <a:solidFill>
                  <a:srgbClr val="A8C7BC"/>
                </a:solidFill>
                <a:latin typeface="Consolas" pitchFamily="34" charset="0"/>
                <a:ea typeface="Consolas" pitchFamily="34" charset="-122"/>
                <a:cs typeface="Consolas" pitchFamily="34" charset="-120"/>
              </a:rPr>
              <a:t>03 / 05</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p:bgPr>
    </p:bg>
    <p:spTree>
      <p:nvGrpSpPr>
        <p:cNvPr id="1" name=""/>
        <p:cNvGrpSpPr/>
        <p:nvPr/>
      </p:nvGrpSpPr>
      <p:grpSpPr>
        <a:xfrm>
          <a:off x="0" y="0"/>
          <a:ext cx="0" cy="0"/>
          <a:chOff x="0" y="0"/>
          <a:chExt cx="0" cy="0"/>
        </a:xfrm>
      </p:grpSpPr>
      <p:sp>
        <p:nvSpPr>
          <p:cNvPr id="2" name="Text 0"/>
          <p:cNvSpPr txBox="1"/>
          <p:nvPr/>
        </p:nvSpPr>
        <p:spPr>
          <a:xfrm>
            <a:off x="914400" y="640080"/>
            <a:ext cx="8595360" cy="1371600"/>
          </a:xfrm>
          <a:prstGeom prst="rect">
            <a:avLst/>
          </a:prstGeom>
          <a:noFill/>
          <a:ln/>
        </p:spPr>
        <p:txBody>
          <a:bodyPr wrap="square" lIns="0" tIns="0" rIns="0" bIns="0" rtlCol="0" anchor="t"/>
          <a:lstStyle/>
          <a:p>
            <a:pPr indent="0" marL="0">
              <a:lnSpc>
                <a:spcPct val="102000"/>
              </a:lnSpc>
              <a:buNone/>
            </a:pPr>
            <a:r>
              <a:rPr lang="en-US" sz="4400" dirty="0">
                <a:solidFill>
                  <a:srgbClr val="172724"/>
                </a:solidFill>
                <a:latin typeface="Cambria" pitchFamily="34" charset="0"/>
                <a:ea typeface="Cambria" pitchFamily="34" charset="-122"/>
                <a:cs typeface="Cambria" pitchFamily="34" charset="-120"/>
              </a:rPr>
              <a:t>May the model write the policy?</a:t>
            </a:r>
            <a:endParaRPr lang="en-US" sz="4400" dirty="0"/>
          </a:p>
        </p:txBody>
      </p:sp>
      <p:sp>
        <p:nvSpPr>
          <p:cNvPr id="3" name="Text 1"/>
          <p:cNvSpPr txBox="1"/>
          <p:nvPr/>
        </p:nvSpPr>
        <p:spPr>
          <a:xfrm>
            <a:off x="914400" y="2514600"/>
            <a:ext cx="3246120" cy="566928"/>
          </a:xfrm>
          <a:prstGeom prst="rect">
            <a:avLst/>
          </a:prstGeom>
          <a:noFill/>
          <a:ln/>
        </p:spPr>
        <p:txBody>
          <a:bodyPr wrap="square" lIns="0" tIns="0" rIns="0" bIns="0" rtlCol="0" anchor="t"/>
          <a:lstStyle/>
          <a:p>
            <a:pPr indent="0" marL="0">
              <a:lnSpc>
                <a:spcPct val="110000"/>
              </a:lnSpc>
              <a:buNone/>
            </a:pPr>
            <a:r>
              <a:rPr lang="en-US" sz="2500" dirty="0">
                <a:solidFill>
                  <a:srgbClr val="61706B"/>
                </a:solidFill>
                <a:latin typeface="Cambria" pitchFamily="34" charset="0"/>
                <a:ea typeface="Cambria" pitchFamily="34" charset="-122"/>
                <a:cs typeface="Cambria" pitchFamily="34" charset="-120"/>
              </a:rPr>
              <a:t>It writes the pack.</a:t>
            </a:r>
            <a:endParaRPr lang="en-US" sz="2500" dirty="0"/>
          </a:p>
        </p:txBody>
      </p:sp>
      <p:sp>
        <p:nvSpPr>
          <p:cNvPr id="4" name="Text 2"/>
          <p:cNvSpPr txBox="1"/>
          <p:nvPr/>
        </p:nvSpPr>
        <p:spPr>
          <a:xfrm>
            <a:off x="914400" y="3191256"/>
            <a:ext cx="3246120" cy="914400"/>
          </a:xfrm>
          <a:prstGeom prst="rect">
            <a:avLst/>
          </a:prstGeom>
          <a:noFill/>
          <a:ln/>
        </p:spPr>
        <p:txBody>
          <a:bodyPr wrap="square" lIns="0" tIns="0" rIns="0" bIns="0" rtlCol="0" anchor="t"/>
          <a:lstStyle/>
          <a:p>
            <a:pPr indent="0" marL="0">
              <a:lnSpc>
                <a:spcPct val="132000"/>
              </a:lnSpc>
              <a:buNone/>
            </a:pPr>
            <a:r>
              <a:rPr lang="en-US" sz="1500" dirty="0">
                <a:solidFill>
                  <a:srgbClr val="61706B"/>
                </a:solidFill>
                <a:latin typeface="Calibri" pitchFamily="34" charset="0"/>
                <a:ea typeface="Calibri" pitchFamily="34" charset="-122"/>
                <a:cs typeface="Calibri" pitchFamily="34" charset="-120"/>
              </a:rPr>
              <a:t>Then it invents obligations that nobody wrote.</a:t>
            </a:r>
            <a:endParaRPr lang="en-US" sz="1500" dirty="0"/>
          </a:p>
        </p:txBody>
      </p:sp>
      <p:sp>
        <p:nvSpPr>
          <p:cNvPr id="5" name="Text 3"/>
          <p:cNvSpPr txBox="1"/>
          <p:nvPr/>
        </p:nvSpPr>
        <p:spPr>
          <a:xfrm>
            <a:off x="4471416" y="2514600"/>
            <a:ext cx="3246120" cy="566928"/>
          </a:xfrm>
          <a:prstGeom prst="rect">
            <a:avLst/>
          </a:prstGeom>
          <a:noFill/>
          <a:ln/>
        </p:spPr>
        <p:txBody>
          <a:bodyPr wrap="square" lIns="0" tIns="0" rIns="0" bIns="0" rtlCol="0" anchor="t"/>
          <a:lstStyle/>
          <a:p>
            <a:pPr indent="0" marL="0">
              <a:lnSpc>
                <a:spcPct val="110000"/>
              </a:lnSpc>
              <a:buNone/>
            </a:pPr>
            <a:r>
              <a:rPr lang="en-US" sz="2500" dirty="0">
                <a:solidFill>
                  <a:srgbClr val="61706B"/>
                </a:solidFill>
                <a:latin typeface="Cambria" pitchFamily="34" charset="0"/>
                <a:ea typeface="Cambria" pitchFamily="34" charset="-122"/>
                <a:cs typeface="Cambria" pitchFamily="34" charset="-120"/>
              </a:rPr>
              <a:t>It writes nothing.</a:t>
            </a:r>
            <a:endParaRPr lang="en-US" sz="2500" dirty="0"/>
          </a:p>
        </p:txBody>
      </p:sp>
      <p:sp>
        <p:nvSpPr>
          <p:cNvPr id="6" name="Text 4"/>
          <p:cNvSpPr txBox="1"/>
          <p:nvPr/>
        </p:nvSpPr>
        <p:spPr>
          <a:xfrm>
            <a:off x="4471416" y="3191256"/>
            <a:ext cx="3246120" cy="914400"/>
          </a:xfrm>
          <a:prstGeom prst="rect">
            <a:avLst/>
          </a:prstGeom>
          <a:noFill/>
          <a:ln/>
        </p:spPr>
        <p:txBody>
          <a:bodyPr wrap="square" lIns="0" tIns="0" rIns="0" bIns="0" rtlCol="0" anchor="t"/>
          <a:lstStyle/>
          <a:p>
            <a:pPr indent="0" marL="0">
              <a:lnSpc>
                <a:spcPct val="132000"/>
              </a:lnSpc>
              <a:buNone/>
            </a:pPr>
            <a:r>
              <a:rPr lang="en-US" sz="1500" dirty="0">
                <a:solidFill>
                  <a:srgbClr val="61706B"/>
                </a:solidFill>
                <a:latin typeface="Calibri" pitchFamily="34" charset="0"/>
                <a:ea typeface="Calibri" pitchFamily="34" charset="-122"/>
                <a:cs typeface="Calibri" pitchFamily="34" charset="-120"/>
              </a:rPr>
              <a:t>Then every organisation gets the same document.</a:t>
            </a:r>
            <a:endParaRPr lang="en-US" sz="1500" dirty="0"/>
          </a:p>
        </p:txBody>
      </p:sp>
      <p:sp>
        <p:nvSpPr>
          <p:cNvPr id="7" name="Shape 5"/>
          <p:cNvSpPr/>
          <p:nvPr/>
        </p:nvSpPr>
        <p:spPr>
          <a:xfrm>
            <a:off x="7845552" y="2221992"/>
            <a:ext cx="3611880" cy="2423160"/>
          </a:xfrm>
          <a:prstGeom prst="rect">
            <a:avLst/>
          </a:prstGeom>
          <a:solidFill>
            <a:srgbClr val="DFECE6"/>
          </a:solidFill>
          <a:ln/>
        </p:spPr>
      </p:sp>
      <p:sp>
        <p:nvSpPr>
          <p:cNvPr id="8" name="Text 6"/>
          <p:cNvSpPr txBox="1"/>
          <p:nvPr/>
        </p:nvSpPr>
        <p:spPr>
          <a:xfrm>
            <a:off x="8028432" y="2514600"/>
            <a:ext cx="3246120" cy="566928"/>
          </a:xfrm>
          <a:prstGeom prst="rect">
            <a:avLst/>
          </a:prstGeom>
          <a:noFill/>
          <a:ln/>
        </p:spPr>
        <p:txBody>
          <a:bodyPr wrap="square" lIns="0" tIns="0" rIns="0" bIns="0" rtlCol="0" anchor="t"/>
          <a:lstStyle/>
          <a:p>
            <a:pPr indent="0" marL="0">
              <a:lnSpc>
                <a:spcPct val="110000"/>
              </a:lnSpc>
              <a:buNone/>
            </a:pPr>
            <a:r>
              <a:rPr lang="en-US" sz="2500" dirty="0">
                <a:solidFill>
                  <a:srgbClr val="172724"/>
                </a:solidFill>
                <a:latin typeface="Cambria" pitchFamily="34" charset="0"/>
                <a:ea typeface="Cambria" pitchFamily="34" charset="-122"/>
                <a:cs typeface="Cambria" pitchFamily="34" charset="-120"/>
              </a:rPr>
              <a:t>It writes the margins.</a:t>
            </a:r>
            <a:endParaRPr lang="en-US" sz="2500" dirty="0"/>
          </a:p>
        </p:txBody>
      </p:sp>
      <p:sp>
        <p:nvSpPr>
          <p:cNvPr id="9" name="Text 7"/>
          <p:cNvSpPr txBox="1"/>
          <p:nvPr/>
        </p:nvSpPr>
        <p:spPr>
          <a:xfrm>
            <a:off x="8028432" y="3191256"/>
            <a:ext cx="3246120" cy="914400"/>
          </a:xfrm>
          <a:prstGeom prst="rect">
            <a:avLst/>
          </a:prstGeom>
          <a:noFill/>
          <a:ln/>
        </p:spPr>
        <p:txBody>
          <a:bodyPr wrap="square" lIns="0" tIns="0" rIns="0" bIns="0" rtlCol="0" anchor="t"/>
          <a:lstStyle/>
          <a:p>
            <a:pPr indent="0" marL="0">
              <a:lnSpc>
                <a:spcPct val="132000"/>
              </a:lnSpc>
              <a:buNone/>
            </a:pPr>
            <a:r>
              <a:rPr lang="en-US" sz="1500" dirty="0">
                <a:solidFill>
                  <a:srgbClr val="43534E"/>
                </a:solidFill>
                <a:latin typeface="Calibri" pitchFamily="34" charset="0"/>
                <a:ea typeface="Calibri" pitchFamily="34" charset="-122"/>
                <a:cs typeface="Calibri" pitchFamily="34" charset="-120"/>
              </a:rPr>
              <a:t>Three short fields beside the fixed text.</a:t>
            </a:r>
            <a:endParaRPr lang="en-US" sz="1500" dirty="0"/>
          </a:p>
        </p:txBody>
      </p:sp>
      <p:sp>
        <p:nvSpPr>
          <p:cNvPr id="10" name="Text 8"/>
          <p:cNvSpPr txBox="1"/>
          <p:nvPr/>
        </p:nvSpPr>
        <p:spPr>
          <a:xfrm>
            <a:off x="8028432" y="4206240"/>
            <a:ext cx="3246120" cy="274320"/>
          </a:xfrm>
          <a:prstGeom prst="rect">
            <a:avLst/>
          </a:prstGeom>
          <a:noFill/>
          <a:ln/>
        </p:spPr>
        <p:txBody>
          <a:bodyPr wrap="square" lIns="0" tIns="0" rIns="0" bIns="0" rtlCol="0" anchor="ctr"/>
          <a:lstStyle/>
          <a:p>
            <a:pPr algn="l" indent="0" marL="0">
              <a:buNone/>
            </a:pPr>
            <a:r>
              <a:rPr lang="en-US" sz="1000" spc="160" kern="0" dirty="0">
                <a:solidFill>
                  <a:srgbClr val="8F6520"/>
                </a:solidFill>
                <a:latin typeface="Consolas" pitchFamily="34" charset="0"/>
                <a:ea typeface="Consolas" pitchFamily="34" charset="-122"/>
                <a:cs typeface="Consolas" pitchFamily="34" charset="-120"/>
              </a:rPr>
              <a:t>CHOSEN</a:t>
            </a:r>
            <a:endParaRPr lang="en-US" sz="1000" dirty="0"/>
          </a:p>
        </p:txBody>
      </p:sp>
      <p:sp>
        <p:nvSpPr>
          <p:cNvPr id="11" name="Text 9"/>
          <p:cNvSpPr txBox="1"/>
          <p:nvPr/>
        </p:nvSpPr>
        <p:spPr>
          <a:xfrm>
            <a:off x="914400" y="5486400"/>
            <a:ext cx="9326880" cy="731520"/>
          </a:xfrm>
          <a:prstGeom prst="rect">
            <a:avLst/>
          </a:prstGeom>
          <a:noFill/>
          <a:ln/>
        </p:spPr>
        <p:txBody>
          <a:bodyPr wrap="square" lIns="0" tIns="0" rIns="0" bIns="0" rtlCol="0" anchor="ctr"/>
          <a:lstStyle/>
          <a:p>
            <a:pPr indent="0" marL="0">
              <a:lnSpc>
                <a:spcPct val="120000"/>
              </a:lnSpc>
              <a:buNone/>
            </a:pPr>
            <a:r>
              <a:rPr lang="en-US" sz="2200" dirty="0">
                <a:solidFill>
                  <a:srgbClr val="172724"/>
                </a:solidFill>
                <a:latin typeface="Cambria" pitchFamily="34" charset="0"/>
                <a:ea typeface="Cambria" pitchFamily="34" charset="-122"/>
                <a:cs typeface="Cambria" pitchFamily="34" charset="-120"/>
              </a:rPr>
              <a:t>It cannot state a requirement, because it is never given a field to put one in.</a:t>
            </a:r>
            <a:endParaRPr lang="en-US" sz="2200" dirty="0"/>
          </a:p>
        </p:txBody>
      </p:sp>
      <p:sp>
        <p:nvSpPr>
          <p:cNvPr id="12" name="Text 10"/>
          <p:cNvSpPr txBox="1"/>
          <p:nvPr/>
        </p:nvSpPr>
        <p:spPr>
          <a:xfrm>
            <a:off x="9448495" y="6144768"/>
            <a:ext cx="1828800" cy="274320"/>
          </a:xfrm>
          <a:prstGeom prst="rect">
            <a:avLst/>
          </a:prstGeom>
          <a:noFill/>
          <a:ln/>
        </p:spPr>
        <p:txBody>
          <a:bodyPr wrap="square" lIns="0" tIns="0" rIns="0" bIns="0" rtlCol="0" anchor="ctr"/>
          <a:lstStyle/>
          <a:p>
            <a:pPr algn="r" indent="0" marL="0">
              <a:buNone/>
            </a:pPr>
            <a:r>
              <a:rPr lang="en-US" sz="1000" spc="160" kern="0" dirty="0">
                <a:solidFill>
                  <a:srgbClr val="61706B"/>
                </a:solidFill>
                <a:latin typeface="Consolas" pitchFamily="34" charset="0"/>
                <a:ea typeface="Consolas" pitchFamily="34" charset="-122"/>
                <a:cs typeface="Consolas" pitchFamily="34" charset="-120"/>
              </a:rPr>
              <a:t>04 / 05</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5F0"/>
        </a:solidFill>
      </p:bgPr>
    </p:bg>
    <p:spTree>
      <p:nvGrpSpPr>
        <p:cNvPr id="1" name=""/>
        <p:cNvGrpSpPr/>
        <p:nvPr/>
      </p:nvGrpSpPr>
      <p:grpSpPr>
        <a:xfrm>
          <a:off x="0" y="0"/>
          <a:ext cx="0" cy="0"/>
          <a:chOff x="0" y="0"/>
          <a:chExt cx="0" cy="0"/>
        </a:xfrm>
      </p:grpSpPr>
      <p:sp>
        <p:nvSpPr>
          <p:cNvPr id="2" name="Shape 0"/>
          <p:cNvSpPr/>
          <p:nvPr/>
        </p:nvSpPr>
        <p:spPr>
          <a:xfrm>
            <a:off x="914400" y="1504188"/>
            <a:ext cx="146304" cy="146304"/>
          </a:xfrm>
          <a:prstGeom prst="ellipse">
            <a:avLst/>
          </a:prstGeom>
          <a:solidFill>
            <a:srgbClr val="1E5146"/>
          </a:solidFill>
          <a:ln/>
        </p:spPr>
      </p:sp>
      <p:sp>
        <p:nvSpPr>
          <p:cNvPr id="3" name="Text 1"/>
          <p:cNvSpPr txBox="1"/>
          <p:nvPr/>
        </p:nvSpPr>
        <p:spPr>
          <a:xfrm>
            <a:off x="1225296" y="914400"/>
            <a:ext cx="1554480" cy="1325880"/>
          </a:xfrm>
          <a:prstGeom prst="rect">
            <a:avLst/>
          </a:prstGeom>
          <a:noFill/>
          <a:ln/>
        </p:spPr>
        <p:txBody>
          <a:bodyPr wrap="square" lIns="0" tIns="0" rIns="0" bIns="0" rtlCol="0" anchor="ctr"/>
          <a:lstStyle/>
          <a:p>
            <a:pPr algn="l" indent="0" marL="0">
              <a:buNone/>
            </a:pPr>
            <a:r>
              <a:rPr lang="en-US" sz="1000" spc="160" kern="0" dirty="0">
                <a:solidFill>
                  <a:srgbClr val="8F6520"/>
                </a:solidFill>
                <a:latin typeface="Consolas" pitchFamily="34" charset="0"/>
                <a:ea typeface="Consolas" pitchFamily="34" charset="-122"/>
                <a:cs typeface="Consolas" pitchFamily="34" charset="-120"/>
              </a:rPr>
              <a:t>WORKS</a:t>
            </a:r>
            <a:endParaRPr lang="en-US" sz="1000" dirty="0"/>
          </a:p>
        </p:txBody>
      </p:sp>
      <p:sp>
        <p:nvSpPr>
          <p:cNvPr id="4" name="Text 2"/>
          <p:cNvSpPr txBox="1"/>
          <p:nvPr/>
        </p:nvSpPr>
        <p:spPr>
          <a:xfrm>
            <a:off x="2880360" y="914400"/>
            <a:ext cx="8396935" cy="1325880"/>
          </a:xfrm>
          <a:prstGeom prst="rect">
            <a:avLst/>
          </a:prstGeom>
          <a:noFill/>
          <a:ln/>
        </p:spPr>
        <p:txBody>
          <a:bodyPr wrap="square" lIns="0" tIns="0" rIns="0" bIns="0" rtlCol="0" anchor="ctr"/>
          <a:lstStyle/>
          <a:p>
            <a:pPr indent="0" marL="0">
              <a:lnSpc>
                <a:spcPct val="112000"/>
              </a:lnSpc>
              <a:buNone/>
            </a:pPr>
            <a:r>
              <a:rPr lang="en-US" sz="2800" dirty="0">
                <a:solidFill>
                  <a:srgbClr val="172724"/>
                </a:solidFill>
                <a:latin typeface="Cambria" pitchFamily="34" charset="0"/>
                <a:ea typeface="Cambria" pitchFamily="34" charset="-122"/>
                <a:cs typeface="Cambria" pitchFamily="34" charset="-120"/>
              </a:rPr>
              <a:t>The whole loop is live, and I have watched every step of it run.</a:t>
            </a:r>
            <a:endParaRPr lang="en-US" sz="2800" dirty="0"/>
          </a:p>
        </p:txBody>
      </p:sp>
      <p:sp>
        <p:nvSpPr>
          <p:cNvPr id="5" name="Shape 3"/>
          <p:cNvSpPr/>
          <p:nvPr/>
        </p:nvSpPr>
        <p:spPr>
          <a:xfrm>
            <a:off x="914400" y="3177540"/>
            <a:ext cx="146304" cy="146304"/>
          </a:xfrm>
          <a:prstGeom prst="ellipse">
            <a:avLst/>
          </a:prstGeom>
          <a:solidFill>
            <a:srgbClr val="61706B"/>
          </a:solidFill>
          <a:ln/>
        </p:spPr>
      </p:sp>
      <p:sp>
        <p:nvSpPr>
          <p:cNvPr id="6" name="Text 4"/>
          <p:cNvSpPr txBox="1"/>
          <p:nvPr/>
        </p:nvSpPr>
        <p:spPr>
          <a:xfrm>
            <a:off x="1225296" y="2587752"/>
            <a:ext cx="1554480" cy="1325880"/>
          </a:xfrm>
          <a:prstGeom prst="rect">
            <a:avLst/>
          </a:prstGeom>
          <a:noFill/>
          <a:ln/>
        </p:spPr>
        <p:txBody>
          <a:bodyPr wrap="square" lIns="0" tIns="0" rIns="0" bIns="0" rtlCol="0" anchor="ctr"/>
          <a:lstStyle/>
          <a:p>
            <a:pPr algn="l" indent="0" marL="0">
              <a:buNone/>
            </a:pPr>
            <a:r>
              <a:rPr lang="en-US" sz="1000" spc="160" kern="0" dirty="0">
                <a:solidFill>
                  <a:srgbClr val="8F6520"/>
                </a:solidFill>
                <a:latin typeface="Consolas" pitchFamily="34" charset="0"/>
                <a:ea typeface="Consolas" pitchFamily="34" charset="-122"/>
                <a:cs typeface="Consolas" pitchFamily="34" charset="-120"/>
              </a:rPr>
              <a:t>DOES NOT</a:t>
            </a:r>
            <a:endParaRPr lang="en-US" sz="1000" dirty="0"/>
          </a:p>
        </p:txBody>
      </p:sp>
      <p:sp>
        <p:nvSpPr>
          <p:cNvPr id="7" name="Text 5"/>
          <p:cNvSpPr txBox="1"/>
          <p:nvPr/>
        </p:nvSpPr>
        <p:spPr>
          <a:xfrm>
            <a:off x="2880360" y="2587752"/>
            <a:ext cx="8396935" cy="1325880"/>
          </a:xfrm>
          <a:prstGeom prst="rect">
            <a:avLst/>
          </a:prstGeom>
          <a:noFill/>
          <a:ln/>
        </p:spPr>
        <p:txBody>
          <a:bodyPr wrap="square" lIns="0" tIns="0" rIns="0" bIns="0" rtlCol="0" anchor="ctr"/>
          <a:lstStyle/>
          <a:p>
            <a:pPr indent="0" marL="0">
              <a:lnSpc>
                <a:spcPct val="112000"/>
              </a:lnSpc>
              <a:buNone/>
            </a:pPr>
            <a:r>
              <a:rPr lang="en-US" sz="2800" dirty="0">
                <a:solidFill>
                  <a:srgbClr val="43534E"/>
                </a:solidFill>
                <a:latin typeface="Cambria" pitchFamily="34" charset="0"/>
                <a:ea typeface="Cambria" pitchFamily="34" charset="-122"/>
                <a:cs typeface="Cambria" pitchFamily="34" charset="-120"/>
              </a:rPr>
              <a:t>Nobody has signed off that the transcription is faithful.</a:t>
            </a:r>
            <a:endParaRPr lang="en-US" sz="2800" dirty="0"/>
          </a:p>
        </p:txBody>
      </p:sp>
      <p:sp>
        <p:nvSpPr>
          <p:cNvPr id="8" name="Shape 6"/>
          <p:cNvSpPr/>
          <p:nvPr/>
        </p:nvSpPr>
        <p:spPr>
          <a:xfrm>
            <a:off x="914400" y="4850892"/>
            <a:ext cx="146304" cy="146304"/>
          </a:xfrm>
          <a:prstGeom prst="ellipse">
            <a:avLst/>
          </a:prstGeom>
          <a:solidFill>
            <a:srgbClr val="8F6520"/>
          </a:solidFill>
          <a:ln/>
        </p:spPr>
      </p:sp>
      <p:sp>
        <p:nvSpPr>
          <p:cNvPr id="9" name="Text 7"/>
          <p:cNvSpPr txBox="1"/>
          <p:nvPr/>
        </p:nvSpPr>
        <p:spPr>
          <a:xfrm>
            <a:off x="1225296" y="4261104"/>
            <a:ext cx="1554480" cy="1325880"/>
          </a:xfrm>
          <a:prstGeom prst="rect">
            <a:avLst/>
          </a:prstGeom>
          <a:noFill/>
          <a:ln/>
        </p:spPr>
        <p:txBody>
          <a:bodyPr wrap="square" lIns="0" tIns="0" rIns="0" bIns="0" rtlCol="0" anchor="ctr"/>
          <a:lstStyle/>
          <a:p>
            <a:pPr algn="l" indent="0" marL="0">
              <a:buNone/>
            </a:pPr>
            <a:r>
              <a:rPr lang="en-US" sz="1000" spc="160" kern="0" dirty="0">
                <a:solidFill>
                  <a:srgbClr val="8F6520"/>
                </a:solidFill>
                <a:latin typeface="Consolas" pitchFamily="34" charset="0"/>
                <a:ea typeface="Consolas" pitchFamily="34" charset="-122"/>
                <a:cs typeface="Consolas" pitchFamily="34" charset="-120"/>
              </a:rPr>
              <a:t>NEXT</a:t>
            </a:r>
            <a:endParaRPr lang="en-US" sz="1000" dirty="0"/>
          </a:p>
        </p:txBody>
      </p:sp>
      <p:sp>
        <p:nvSpPr>
          <p:cNvPr id="10" name="Text 8"/>
          <p:cNvSpPr txBox="1"/>
          <p:nvPr/>
        </p:nvSpPr>
        <p:spPr>
          <a:xfrm>
            <a:off x="2880360" y="4261104"/>
            <a:ext cx="8396935" cy="1325880"/>
          </a:xfrm>
          <a:prstGeom prst="rect">
            <a:avLst/>
          </a:prstGeom>
          <a:noFill/>
          <a:ln/>
        </p:spPr>
        <p:txBody>
          <a:bodyPr wrap="square" lIns="0" tIns="0" rIns="0" bIns="0" rtlCol="0" anchor="ctr"/>
          <a:lstStyle/>
          <a:p>
            <a:pPr indent="0" marL="0">
              <a:lnSpc>
                <a:spcPct val="112000"/>
              </a:lnSpc>
              <a:buNone/>
            </a:pPr>
            <a:r>
              <a:rPr lang="en-US" sz="2800" dirty="0">
                <a:solidFill>
                  <a:srgbClr val="172724"/>
                </a:solidFill>
                <a:latin typeface="Cambria" pitchFamily="34" charset="0"/>
                <a:ea typeface="Cambria" pitchFamily="34" charset="-122"/>
                <a:cs typeface="Cambria" pitchFamily="34" charset="-120"/>
              </a:rPr>
              <a:t>Take it again in six months, and show the board 4 of 8 became 7.</a:t>
            </a:r>
            <a:endParaRPr lang="en-US" sz="2800" dirty="0"/>
          </a:p>
        </p:txBody>
      </p:sp>
      <p:sp>
        <p:nvSpPr>
          <p:cNvPr id="11" name="Text 9"/>
          <p:cNvSpPr txBox="1"/>
          <p:nvPr/>
        </p:nvSpPr>
        <p:spPr>
          <a:xfrm>
            <a:off x="914400" y="5779008"/>
            <a:ext cx="8046720" cy="384048"/>
          </a:xfrm>
          <a:prstGeom prst="rect">
            <a:avLst/>
          </a:prstGeom>
          <a:noFill/>
          <a:ln/>
        </p:spPr>
        <p:txBody>
          <a:bodyPr wrap="square" lIns="0" tIns="0" rIns="0" bIns="0" rtlCol="0" anchor="ctr"/>
          <a:lstStyle/>
          <a:p>
            <a:pPr indent="0" marL="0">
              <a:buNone/>
            </a:pPr>
            <a:r>
              <a:rPr lang="en-US" sz="1600" dirty="0">
                <a:solidFill>
                  <a:srgbClr val="43534E"/>
                </a:solidFill>
                <a:latin typeface="Calibri" pitchFamily="34" charset="0"/>
                <a:ea typeface="Calibri" pitchFamily="34" charset="-122"/>
                <a:cs typeface="Calibri" pitchFamily="34" charset="-120"/>
              </a:rPr>
              <a:t>Until the words are signed off, it is a working prototype.</a:t>
            </a:r>
            <a:endParaRPr lang="en-US" sz="1600" dirty="0"/>
          </a:p>
        </p:txBody>
      </p:sp>
      <p:sp>
        <p:nvSpPr>
          <p:cNvPr id="12" name="Text 10"/>
          <p:cNvSpPr txBox="1"/>
          <p:nvPr/>
        </p:nvSpPr>
        <p:spPr>
          <a:xfrm>
            <a:off x="9448495" y="6144768"/>
            <a:ext cx="1828800" cy="274320"/>
          </a:xfrm>
          <a:prstGeom prst="rect">
            <a:avLst/>
          </a:prstGeom>
          <a:noFill/>
          <a:ln/>
        </p:spPr>
        <p:txBody>
          <a:bodyPr wrap="square" lIns="0" tIns="0" rIns="0" bIns="0" rtlCol="0" anchor="ctr"/>
          <a:lstStyle/>
          <a:p>
            <a:pPr algn="r" indent="0" marL="0">
              <a:buNone/>
            </a:pPr>
            <a:r>
              <a:rPr lang="en-US" sz="1000" spc="160" kern="0" dirty="0">
                <a:solidFill>
                  <a:srgbClr val="61706B"/>
                </a:solidFill>
                <a:latin typeface="Consolas" pitchFamily="34" charset="0"/>
                <a:ea typeface="Consolas" pitchFamily="34" charset="-122"/>
                <a:cs typeface="Consolas" pitchFamily="34" charset="-120"/>
              </a:rPr>
              <a:t>05 / 05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Minimum in Five Minutes</dc:title>
  <dc:subject>PptxGenJS Presentation</dc:subject>
  <dc:creator>Governance AI</dc:creator>
  <cp:lastModifiedBy>Governance AI</cp:lastModifiedBy>
  <cp:revision>1</cp:revision>
  <dcterms:created xsi:type="dcterms:W3CDTF">2026-09-04T13:56:04Z</dcterms:created>
  <dcterms:modified xsi:type="dcterms:W3CDTF">2026-09-04T13:56:04Z</dcterms:modified>
</cp:coreProperties>
</file>